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94" r:id="rId2"/>
    <p:sldId id="296" r:id="rId3"/>
    <p:sldId id="297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5" r:id="rId30"/>
    <p:sldId id="324" r:id="rId31"/>
    <p:sldId id="32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E1B1526-4350-4DF1-BB11-22ADF0433B60}">
          <p14:sldIdLst>
            <p14:sldId id="294"/>
            <p14:sldId id="296"/>
            <p14:sldId id="297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Untitled Section" id="{B9B97FE8-716B-4858-8B5F-FEB9DF9862F8}">
          <p14:sldIdLst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5"/>
            <p14:sldId id="324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0D1B"/>
    <a:srgbClr val="99B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A2B4A"/>
                </a:solidFill>
                <a:latin typeface="Arial"/>
              </a:rPr>
              <a:t>Revenue by Category (₹)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Category</c:v>
                </c:pt>
              </c:strCache>
            </c:strRef>
          </c:tx>
          <c:spPr>
            <a:solidFill>
              <a:srgbClr val="0D7C6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2D6A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2F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700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Snacks</c:v>
                </c:pt>
                <c:pt idx="1">
                  <c:v>Grains</c:v>
                </c:pt>
                <c:pt idx="2">
                  <c:v>Personal Care</c:v>
                </c:pt>
                <c:pt idx="3">
                  <c:v>Dairy</c:v>
                </c:pt>
                <c:pt idx="4">
                  <c:v>Household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183418</c:v>
                </c:pt>
                <c:pt idx="1">
                  <c:v>157546</c:v>
                </c:pt>
                <c:pt idx="2">
                  <c:v>90461</c:v>
                </c:pt>
                <c:pt idx="3">
                  <c:v>80361</c:v>
                </c:pt>
                <c:pt idx="4">
                  <c:v>39544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79193952"/>
        <c:axId val="579194496"/>
      </c:barChart>
      <c:catAx>
        <c:axId val="5791939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579194496"/>
        <c:crosses val="autoZero"/>
        <c:auto val="1"/>
        <c:lblAlgn val="ctr"/>
        <c:lblOffset val="100"/>
        <c:noMultiLvlLbl val="1"/>
      </c:catAx>
      <c:valAx>
        <c:axId val="579194496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579193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4A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A2B4A"/>
                </a:solidFill>
                <a:latin typeface="Arial"/>
              </a:rPr>
              <a:t>Top 5 Customers by Revenue (₹)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(₹)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Chetan Naidu</c:v>
                </c:pt>
                <c:pt idx="1">
                  <c:v>Kapila</c:v>
                </c:pt>
                <c:pt idx="2">
                  <c:v>Eshwar Rao</c:v>
                </c:pt>
                <c:pt idx="3">
                  <c:v>Aditi Rao</c:v>
                </c:pt>
                <c:pt idx="4">
                  <c:v>Eshwar Iyer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11257</c:v>
                </c:pt>
                <c:pt idx="1">
                  <c:v>11100</c:v>
                </c:pt>
                <c:pt idx="2">
                  <c:v>10820</c:v>
                </c:pt>
                <c:pt idx="3">
                  <c:v>10231</c:v>
                </c:pt>
                <c:pt idx="4">
                  <c:v>9188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79201024"/>
        <c:axId val="579199392"/>
      </c:barChart>
      <c:catAx>
        <c:axId val="5792010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579199392"/>
        <c:crosses val="autoZero"/>
        <c:auto val="1"/>
        <c:lblAlgn val="ctr"/>
        <c:lblOffset val="100"/>
        <c:noMultiLvlLbl val="1"/>
      </c:catAx>
      <c:valAx>
        <c:axId val="57919939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579201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271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611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7736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10674" y="4638738"/>
            <a:ext cx="2419048" cy="504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1192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10674" y="4638738"/>
            <a:ext cx="2419048" cy="504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6309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9"/>
          <p:cNvSpPr/>
          <p:nvPr/>
        </p:nvSpPr>
        <p:spPr>
          <a:xfrm>
            <a:off x="2480064" y="3730829"/>
            <a:ext cx="4131244" cy="593563"/>
          </a:xfrm>
          <a:prstGeom prst="roundRect">
            <a:avLst/>
          </a:prstGeom>
          <a:solidFill>
            <a:srgbClr val="FFD5D5"/>
          </a:solidFill>
          <a:ln>
            <a:noFill/>
          </a:ln>
          <a:effectLst/>
        </p:spPr>
        <p:txBody>
          <a:bodyPr wrap="square" lIns="0" tIns="0" rIns="0" bIns="0" rtlCol="0"/>
          <a:lstStyle/>
          <a:p>
            <a:endParaRPr sz="1224">
              <a:solidFill>
                <a:srgbClr val="FF0000"/>
              </a:solidFill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4686" y="3883039"/>
            <a:ext cx="3983551" cy="441353"/>
          </a:xfrm>
          <a:prstGeom prst="rect">
            <a:avLst/>
          </a:prstGeom>
        </p:spPr>
        <p:txBody>
          <a:bodyPr vert="horz" wrap="square" lIns="0" tIns="10365" rIns="0" bIns="0" rtlCol="0" anchor="ctr">
            <a:spAutoFit/>
          </a:bodyPr>
          <a:lstStyle/>
          <a:p>
            <a:pPr algn="ctr"/>
            <a:r>
              <a:rPr lang="en-IN" sz="1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Kesarapu</a:t>
            </a:r>
            <a:r>
              <a:rPr lang="en-IN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sz="1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Teja</a:t>
            </a:r>
            <a:r>
              <a:rPr lang="en-IN" sz="1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| </a:t>
            </a:r>
            <a:r>
              <a:rPr lang="en-IN" sz="1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Ramoju</a:t>
            </a:r>
            <a:r>
              <a:rPr lang="en-IN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Surya Nagendra </a:t>
            </a:r>
          </a:p>
          <a:p>
            <a:endParaRPr lang="en-IN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25" y="170661"/>
            <a:ext cx="6548590" cy="1593978"/>
          </a:xfrm>
          <a:prstGeom prst="rect">
            <a:avLst/>
          </a:prstGeom>
        </p:spPr>
      </p:pic>
      <p:sp>
        <p:nvSpPr>
          <p:cNvPr id="12" name="object 4"/>
          <p:cNvSpPr txBox="1"/>
          <p:nvPr/>
        </p:nvSpPr>
        <p:spPr>
          <a:xfrm>
            <a:off x="1167070" y="2420281"/>
            <a:ext cx="6818784" cy="93166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lvl="0" algn="ctr">
              <a:buSzPts val="1800"/>
            </a:pPr>
            <a:r>
              <a:rPr lang="en-IN" sz="24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SQL </a:t>
            </a:r>
            <a:r>
              <a:rPr lang="en-IN" sz="3200" b="1" dirty="0" smtClean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/>
            </a:r>
            <a:br>
              <a:rPr lang="en-IN" sz="3200" b="1" dirty="0" smtClean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</a:br>
            <a:r>
              <a:rPr lang="en-IN" sz="3200" b="1" dirty="0" smtClean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Grocery </a:t>
            </a:r>
            <a:r>
              <a:rPr lang="en-IN" sz="3200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Calibri"/>
              </a:rPr>
              <a:t>store management </a:t>
            </a:r>
            <a:endParaRPr lang="en-IN" sz="32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437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2"/>
          <p:cNvSpPr/>
          <p:nvPr/>
        </p:nvSpPr>
        <p:spPr>
          <a:xfrm>
            <a:off x="346026" y="651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r>
              <a:rPr lang="en-US" sz="110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This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analyzes a real-world Grocery Store Management System using MySQL. The database captures transactional data across 7 interconnected tables — enabling rich business intelligence across sales, customers, products, employees, and suppliers.</a:t>
            </a:r>
            <a:endParaRPr lang="en-US" sz="1100" dirty="0"/>
          </a:p>
        </p:txBody>
      </p:sp>
      <p:sp>
        <p:nvSpPr>
          <p:cNvPr id="4" name="Shape 3"/>
          <p:cNvSpPr/>
          <p:nvPr/>
        </p:nvSpPr>
        <p:spPr>
          <a:xfrm>
            <a:off x="280172" y="1528724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4"/>
          <p:cNvSpPr/>
          <p:nvPr/>
        </p:nvSpPr>
        <p:spPr>
          <a:xfrm>
            <a:off x="280172" y="1528724"/>
            <a:ext cx="64008" cy="777240"/>
          </a:xfrm>
          <a:prstGeom prst="rect">
            <a:avLst/>
          </a:prstGeom>
          <a:solidFill>
            <a:srgbClr val="B01212"/>
          </a:solidFill>
        </p:spPr>
      </p:sp>
      <p:sp>
        <p:nvSpPr>
          <p:cNvPr id="6" name="Text 5"/>
          <p:cNvSpPr/>
          <p:nvPr/>
        </p:nvSpPr>
        <p:spPr>
          <a:xfrm>
            <a:off x="417332" y="16201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 Trends</a:t>
            </a:r>
            <a:endParaRPr lang="en-US" sz="1000" dirty="0"/>
          </a:p>
        </p:txBody>
      </p:sp>
      <p:sp>
        <p:nvSpPr>
          <p:cNvPr id="7" name="Text 6"/>
          <p:cNvSpPr/>
          <p:nvPr/>
        </p:nvSpPr>
        <p:spPr>
          <a:xfrm>
            <a:off x="417332" y="1912772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order volumes, revenue trends, and seasonal patterns across time periods.</a:t>
            </a:r>
            <a:endParaRPr lang="en-US" sz="850" dirty="0"/>
          </a:p>
        </p:txBody>
      </p:sp>
      <p:sp>
        <p:nvSpPr>
          <p:cNvPr id="8" name="Shape 7"/>
          <p:cNvSpPr/>
          <p:nvPr/>
        </p:nvSpPr>
        <p:spPr>
          <a:xfrm>
            <a:off x="280172" y="3540404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8"/>
          <p:cNvSpPr/>
          <p:nvPr/>
        </p:nvSpPr>
        <p:spPr>
          <a:xfrm>
            <a:off x="280172" y="3540404"/>
            <a:ext cx="64008" cy="777240"/>
          </a:xfrm>
          <a:prstGeom prst="rect">
            <a:avLst/>
          </a:prstGeom>
          <a:solidFill>
            <a:srgbClr val="B01212"/>
          </a:solidFill>
        </p:spPr>
      </p:sp>
      <p:sp>
        <p:nvSpPr>
          <p:cNvPr id="10" name="Text 9"/>
          <p:cNvSpPr/>
          <p:nvPr/>
        </p:nvSpPr>
        <p:spPr>
          <a:xfrm>
            <a:off x="417332" y="36318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000" dirty="0"/>
          </a:p>
        </p:txBody>
      </p:sp>
      <p:sp>
        <p:nvSpPr>
          <p:cNvPr id="11" name="Text 10"/>
          <p:cNvSpPr/>
          <p:nvPr/>
        </p:nvSpPr>
        <p:spPr>
          <a:xfrm>
            <a:off x="417332" y="3924452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buyers, purchase frequency, and average order value per customer.</a:t>
            </a:r>
            <a:endParaRPr lang="en-US" sz="850" dirty="0"/>
          </a:p>
        </p:txBody>
      </p:sp>
      <p:sp>
        <p:nvSpPr>
          <p:cNvPr id="12" name="Shape 11"/>
          <p:cNvSpPr/>
          <p:nvPr/>
        </p:nvSpPr>
        <p:spPr>
          <a:xfrm>
            <a:off x="3127311" y="2529992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2"/>
          <p:cNvSpPr/>
          <p:nvPr/>
        </p:nvSpPr>
        <p:spPr>
          <a:xfrm>
            <a:off x="3127311" y="2529992"/>
            <a:ext cx="64008" cy="777240"/>
          </a:xfrm>
          <a:prstGeom prst="rect">
            <a:avLst/>
          </a:prstGeom>
          <a:solidFill>
            <a:srgbClr val="B01212"/>
          </a:solidFill>
        </p:spPr>
      </p:sp>
      <p:sp>
        <p:nvSpPr>
          <p:cNvPr id="14" name="Text 13"/>
          <p:cNvSpPr/>
          <p:nvPr/>
        </p:nvSpPr>
        <p:spPr>
          <a:xfrm>
            <a:off x="3264471" y="2621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000" dirty="0"/>
          </a:p>
        </p:txBody>
      </p:sp>
      <p:sp>
        <p:nvSpPr>
          <p:cNvPr id="15" name="Text 14"/>
          <p:cNvSpPr/>
          <p:nvPr/>
        </p:nvSpPr>
        <p:spPr>
          <a:xfrm>
            <a:off x="3264471" y="2914040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products by revenue, quantity sold, and category-level contribution.</a:t>
            </a:r>
            <a:endParaRPr lang="en-US" sz="850" dirty="0"/>
          </a:p>
        </p:txBody>
      </p:sp>
      <p:sp>
        <p:nvSpPr>
          <p:cNvPr id="16" name="Shape 15"/>
          <p:cNvSpPr/>
          <p:nvPr/>
        </p:nvSpPr>
        <p:spPr>
          <a:xfrm>
            <a:off x="280172" y="2534564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6"/>
          <p:cNvSpPr/>
          <p:nvPr/>
        </p:nvSpPr>
        <p:spPr>
          <a:xfrm>
            <a:off x="280172" y="2534564"/>
            <a:ext cx="64008" cy="777240"/>
          </a:xfrm>
          <a:prstGeom prst="rect">
            <a:avLst/>
          </a:prstGeom>
          <a:solidFill>
            <a:srgbClr val="B01212"/>
          </a:solidFill>
        </p:spPr>
      </p:sp>
      <p:sp>
        <p:nvSpPr>
          <p:cNvPr id="18" name="Text 17"/>
          <p:cNvSpPr/>
          <p:nvPr/>
        </p:nvSpPr>
        <p:spPr>
          <a:xfrm>
            <a:off x="417332" y="26260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</a:t>
            </a:r>
            <a:endParaRPr lang="en-US" sz="1000" dirty="0"/>
          </a:p>
        </p:txBody>
      </p:sp>
      <p:sp>
        <p:nvSpPr>
          <p:cNvPr id="19" name="Text 18"/>
          <p:cNvSpPr/>
          <p:nvPr/>
        </p:nvSpPr>
        <p:spPr>
          <a:xfrm>
            <a:off x="417332" y="2918612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order processing efficiency and total sales handled per employee.</a:t>
            </a:r>
            <a:endParaRPr lang="en-US" sz="850" dirty="0"/>
          </a:p>
        </p:txBody>
      </p:sp>
      <p:sp>
        <p:nvSpPr>
          <p:cNvPr id="20" name="Shape 19"/>
          <p:cNvSpPr/>
          <p:nvPr/>
        </p:nvSpPr>
        <p:spPr>
          <a:xfrm>
            <a:off x="3127311" y="1528724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20"/>
          <p:cNvSpPr/>
          <p:nvPr/>
        </p:nvSpPr>
        <p:spPr>
          <a:xfrm>
            <a:off x="3127311" y="1528724"/>
            <a:ext cx="64008" cy="777240"/>
          </a:xfrm>
          <a:prstGeom prst="rect">
            <a:avLst/>
          </a:prstGeom>
          <a:solidFill>
            <a:srgbClr val="B01212"/>
          </a:solidFill>
        </p:spPr>
      </p:sp>
      <p:sp>
        <p:nvSpPr>
          <p:cNvPr id="22" name="Text 21"/>
          <p:cNvSpPr/>
          <p:nvPr/>
        </p:nvSpPr>
        <p:spPr>
          <a:xfrm>
            <a:off x="3264471" y="16201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Contribution</a:t>
            </a:r>
            <a:endParaRPr lang="en-US" sz="1000" dirty="0"/>
          </a:p>
        </p:txBody>
      </p:sp>
      <p:sp>
        <p:nvSpPr>
          <p:cNvPr id="23" name="Text 22"/>
          <p:cNvSpPr/>
          <p:nvPr/>
        </p:nvSpPr>
        <p:spPr>
          <a:xfrm>
            <a:off x="3264471" y="1912772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supplier product portfolio size, pricing, and revenue impact.</a:t>
            </a:r>
            <a:endParaRPr lang="en-US" sz="850" dirty="0"/>
          </a:p>
        </p:txBody>
      </p:sp>
      <p:sp>
        <p:nvSpPr>
          <p:cNvPr id="24" name="Shape 23"/>
          <p:cNvSpPr/>
          <p:nvPr/>
        </p:nvSpPr>
        <p:spPr>
          <a:xfrm>
            <a:off x="3127311" y="3540404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4"/>
          <p:cNvSpPr/>
          <p:nvPr/>
        </p:nvSpPr>
        <p:spPr>
          <a:xfrm>
            <a:off x="3127311" y="3540404"/>
            <a:ext cx="64008" cy="777240"/>
          </a:xfrm>
          <a:prstGeom prst="rect">
            <a:avLst/>
          </a:prstGeom>
          <a:solidFill>
            <a:srgbClr val="B01212"/>
          </a:solidFill>
        </p:spPr>
      </p:sp>
      <p:sp>
        <p:nvSpPr>
          <p:cNvPr id="26" name="Text 25"/>
          <p:cNvSpPr/>
          <p:nvPr/>
        </p:nvSpPr>
        <p:spPr>
          <a:xfrm>
            <a:off x="3264471" y="36318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Deep Dive</a:t>
            </a:r>
            <a:endParaRPr lang="en-US" sz="1000" dirty="0"/>
          </a:p>
        </p:txBody>
      </p:sp>
      <p:sp>
        <p:nvSpPr>
          <p:cNvPr id="27" name="Text 26"/>
          <p:cNvSpPr/>
          <p:nvPr/>
        </p:nvSpPr>
        <p:spPr>
          <a:xfrm>
            <a:off x="3264471" y="3924452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quantity-price relationships and unit price variation per order.</a:t>
            </a:r>
            <a:endParaRPr lang="en-US" sz="850" dirty="0"/>
          </a:p>
        </p:txBody>
      </p:sp>
      <p:grpSp>
        <p:nvGrpSpPr>
          <p:cNvPr id="29" name="Group 28"/>
          <p:cNvGrpSpPr/>
          <p:nvPr/>
        </p:nvGrpSpPr>
        <p:grpSpPr>
          <a:xfrm>
            <a:off x="6051159" y="1528724"/>
            <a:ext cx="2829703" cy="2788920"/>
            <a:chOff x="6051159" y="1473565"/>
            <a:chExt cx="2829703" cy="2844079"/>
          </a:xfrm>
        </p:grpSpPr>
        <p:sp>
          <p:nvSpPr>
            <p:cNvPr id="30" name="Shape 2"/>
            <p:cNvSpPr/>
            <p:nvPr/>
          </p:nvSpPr>
          <p:spPr>
            <a:xfrm>
              <a:off x="6051159" y="1473565"/>
              <a:ext cx="2829703" cy="28440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1" name="Shape 3"/>
            <p:cNvSpPr/>
            <p:nvPr/>
          </p:nvSpPr>
          <p:spPr>
            <a:xfrm>
              <a:off x="6051159" y="1473565"/>
              <a:ext cx="78002" cy="2844079"/>
            </a:xfrm>
            <a:prstGeom prst="rect">
              <a:avLst/>
            </a:prstGeom>
            <a:solidFill>
              <a:srgbClr val="B01212"/>
            </a:solidFill>
          </p:spPr>
        </p:sp>
      </p:grpSp>
      <p:sp>
        <p:nvSpPr>
          <p:cNvPr id="32" name="Text 4"/>
          <p:cNvSpPr/>
          <p:nvPr/>
        </p:nvSpPr>
        <p:spPr>
          <a:xfrm>
            <a:off x="6240992" y="1537290"/>
            <a:ext cx="2639870" cy="313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/>
            <a:r>
              <a:rPr lang="en-IN" sz="1200" b="1" dirty="0" smtClean="0">
                <a:solidFill>
                  <a:schemeClr val="accent1">
                    <a:lumMod val="50000"/>
                  </a:schemeClr>
                </a:solidFill>
              </a:rPr>
              <a:t>Database:</a:t>
            </a:r>
            <a:endParaRPr lang="en-IN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/>
          <a:srcRect t="688" b="1075"/>
          <a:stretch/>
        </p:blipFill>
        <p:spPr>
          <a:xfrm>
            <a:off x="6203638" y="1987202"/>
            <a:ext cx="2608351" cy="213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1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164592" y="78207"/>
            <a:ext cx="4304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ER DIAGRAM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Image 0" descr="/mnt/user-data/uploads/ER_Diagram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8122" y="609391"/>
            <a:ext cx="4729391" cy="3589269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87568" y="192024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87568" y="192024"/>
            <a:ext cx="64008" cy="548640"/>
          </a:xfrm>
          <a:prstGeom prst="rect">
            <a:avLst/>
          </a:prstGeom>
          <a:solidFill>
            <a:srgbClr val="99BED8"/>
          </a:solidFill>
          <a:ln w="12700">
            <a:noFill/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97296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97296" y="42976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sup_id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97296" y="56692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sup_id · sup_name · address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687568" y="813816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87568" y="813816"/>
            <a:ext cx="64008" cy="548640"/>
          </a:xfrm>
          <a:prstGeom prst="rect">
            <a:avLst/>
          </a:prstGeom>
          <a:solidFill>
            <a:srgbClr val="99BED8"/>
          </a:solidFill>
          <a:ln w="12700">
            <a:noFill/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97296" y="8503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97296" y="10515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cat_id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797296" y="1188720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cat_id · cat_name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687568" y="1435608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87568" y="1435608"/>
            <a:ext cx="64008" cy="548640"/>
          </a:xfrm>
          <a:prstGeom prst="rect">
            <a:avLst/>
          </a:prstGeom>
          <a:solidFill>
            <a:srgbClr val="99BED8"/>
          </a:solidFill>
          <a:ln w="12700">
            <a:noFill/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97296" y="14721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97296" y="167335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emp_id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797296" y="181051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· emp_name · hire_date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687568" y="2057400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87568" y="2057400"/>
            <a:ext cx="64008" cy="548640"/>
          </a:xfrm>
          <a:prstGeom prst="rect">
            <a:avLst/>
          </a:prstGeom>
          <a:solidFill>
            <a:srgbClr val="99BED8"/>
          </a:solidFill>
          <a:ln w="12700">
            <a:noFill/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97296" y="20939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97296" y="22951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cust_id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797296" y="2432304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 · cust_name · address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687568" y="2679192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87568" y="2679192"/>
            <a:ext cx="64008" cy="548640"/>
          </a:xfrm>
          <a:prstGeom prst="rect">
            <a:avLst/>
          </a:prstGeom>
          <a:solidFill>
            <a:srgbClr val="99BED8"/>
          </a:solidFill>
          <a:ln w="12700">
            <a:noFill/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97296" y="2715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97296" y="291693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prod_id | FK: sup_id, cat_id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797296" y="305409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prod_id · prod_name · sup_id · cat_id · price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687568" y="3300984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87568" y="3300984"/>
            <a:ext cx="64008" cy="548640"/>
          </a:xfrm>
          <a:prstGeom prst="rect">
            <a:avLst/>
          </a:prstGeom>
          <a:solidFill>
            <a:srgbClr val="99BED8"/>
          </a:solidFill>
          <a:ln w="12700">
            <a:noFill/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97296" y="3337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97296" y="353872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ord_id | FK: cust_id, emp_id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797296" y="367588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ord_id · cust_id · emp_id · order_date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687568" y="3922776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87568" y="3922776"/>
            <a:ext cx="64008" cy="548640"/>
          </a:xfrm>
          <a:prstGeom prst="rect">
            <a:avLst/>
          </a:prstGeom>
          <a:solidFill>
            <a:srgbClr val="99BED8"/>
          </a:solidFill>
          <a:ln w="12700">
            <a:noFill/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97296" y="39593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order_details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97296" y="41605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ord_detID | FK: ord_id, prod_id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797296" y="4297680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ord_detID · ord_id · prod_id · qty · price</a:t>
            </a:r>
            <a:endParaRPr lang="en-US" sz="650" dirty="0"/>
          </a:p>
        </p:txBody>
      </p:sp>
      <p:grpSp>
        <p:nvGrpSpPr>
          <p:cNvPr id="51" name="Group 50"/>
          <p:cNvGrpSpPr/>
          <p:nvPr/>
        </p:nvGrpSpPr>
        <p:grpSpPr>
          <a:xfrm>
            <a:off x="362962" y="4338466"/>
            <a:ext cx="2322050" cy="548640"/>
            <a:chOff x="164592" y="4343400"/>
            <a:chExt cx="2322050" cy="548640"/>
          </a:xfrm>
        </p:grpSpPr>
        <p:sp>
          <p:nvSpPr>
            <p:cNvPr id="40" name="Shape 2"/>
            <p:cNvSpPr/>
            <p:nvPr/>
          </p:nvSpPr>
          <p:spPr>
            <a:xfrm>
              <a:off x="164592" y="4343400"/>
              <a:ext cx="232205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1" name="Shape 3"/>
            <p:cNvSpPr/>
            <p:nvPr/>
          </p:nvSpPr>
          <p:spPr>
            <a:xfrm>
              <a:off x="164592" y="4343400"/>
              <a:ext cx="64008" cy="54864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42" name="Text 4"/>
            <p:cNvSpPr/>
            <p:nvPr/>
          </p:nvSpPr>
          <p:spPr>
            <a:xfrm>
              <a:off x="320369" y="4396127"/>
              <a:ext cx="2166273" cy="4431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fontAlgn="base"/>
              <a:r>
                <a:rPr lang="en-IN" sz="900" dirty="0"/>
                <a:t>One-to-Many from </a:t>
              </a:r>
              <a:r>
                <a:rPr lang="en-IN" sz="900" b="1" dirty="0"/>
                <a:t>supplier</a:t>
              </a:r>
              <a:r>
                <a:rPr lang="en-IN" sz="900" dirty="0"/>
                <a:t> to </a:t>
              </a:r>
              <a:r>
                <a:rPr lang="en-IN" sz="900" b="1" dirty="0" smtClean="0"/>
                <a:t>products</a:t>
              </a:r>
              <a:endParaRPr lang="en-IN" sz="900" dirty="0"/>
            </a:p>
            <a:p>
              <a:pPr fontAlgn="base"/>
              <a:r>
                <a:rPr lang="en-IN" sz="900" dirty="0"/>
                <a:t>One-to-Many from </a:t>
              </a:r>
              <a:r>
                <a:rPr lang="en-IN" sz="900" b="1" dirty="0"/>
                <a:t>categories</a:t>
              </a:r>
              <a:r>
                <a:rPr lang="en-IN" sz="900" dirty="0"/>
                <a:t> to </a:t>
              </a:r>
              <a:r>
                <a:rPr lang="en-IN" sz="900" b="1" dirty="0" smtClean="0"/>
                <a:t>products</a:t>
              </a:r>
              <a:endParaRPr lang="en-IN" sz="900" dirty="0"/>
            </a:p>
            <a:p>
              <a:pPr fontAlgn="base"/>
              <a:r>
                <a:rPr lang="en-IN" sz="900" dirty="0"/>
                <a:t>One-to-Many from </a:t>
              </a:r>
              <a:r>
                <a:rPr lang="en-IN" sz="900" b="1" dirty="0"/>
                <a:t>products</a:t>
              </a:r>
              <a:r>
                <a:rPr lang="en-IN" sz="900" dirty="0"/>
                <a:t> to </a:t>
              </a:r>
              <a:r>
                <a:rPr lang="en-IN" sz="900" b="1" dirty="0" smtClean="0"/>
                <a:t>order_details</a:t>
              </a:r>
              <a:endParaRPr lang="en-IN" sz="900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2926080" y="4343400"/>
            <a:ext cx="2322050" cy="548640"/>
            <a:chOff x="2829476" y="4343400"/>
            <a:chExt cx="2322050" cy="548640"/>
          </a:xfrm>
        </p:grpSpPr>
        <p:sp>
          <p:nvSpPr>
            <p:cNvPr id="48" name="Shape 2"/>
            <p:cNvSpPr/>
            <p:nvPr/>
          </p:nvSpPr>
          <p:spPr>
            <a:xfrm>
              <a:off x="2829476" y="4343400"/>
              <a:ext cx="232205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9" name="Shape 3"/>
            <p:cNvSpPr/>
            <p:nvPr/>
          </p:nvSpPr>
          <p:spPr>
            <a:xfrm>
              <a:off x="2829476" y="4343400"/>
              <a:ext cx="64008" cy="54864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  <a:prstDash val="solid"/>
            </a:ln>
          </p:spPr>
        </p:sp>
        <p:sp>
          <p:nvSpPr>
            <p:cNvPr id="50" name="Text 4"/>
            <p:cNvSpPr/>
            <p:nvPr/>
          </p:nvSpPr>
          <p:spPr>
            <a:xfrm>
              <a:off x="2985253" y="4396127"/>
              <a:ext cx="2166273" cy="4431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fontAlgn="base"/>
              <a:r>
                <a:rPr lang="en-IN" sz="900" dirty="0"/>
                <a:t>One-to-Many from </a:t>
              </a:r>
              <a:r>
                <a:rPr lang="en-IN" sz="900" b="1" dirty="0"/>
                <a:t>orders</a:t>
              </a:r>
              <a:r>
                <a:rPr lang="en-IN" sz="900" dirty="0"/>
                <a:t> to </a:t>
              </a:r>
              <a:r>
                <a:rPr lang="en-IN" sz="900" b="1" dirty="0" smtClean="0"/>
                <a:t>order_details</a:t>
              </a:r>
              <a:endParaRPr lang="en-IN" sz="900" dirty="0"/>
            </a:p>
            <a:p>
              <a:pPr fontAlgn="base"/>
              <a:r>
                <a:rPr lang="en-IN" sz="900" dirty="0"/>
                <a:t>One-to-Many from </a:t>
              </a:r>
              <a:r>
                <a:rPr lang="en-IN" sz="900" b="1" dirty="0"/>
                <a:t>customers</a:t>
              </a:r>
              <a:r>
                <a:rPr lang="en-IN" sz="900" dirty="0"/>
                <a:t> to </a:t>
              </a:r>
              <a:r>
                <a:rPr lang="en-IN" sz="900" b="1" dirty="0" smtClean="0"/>
                <a:t>orders</a:t>
              </a:r>
              <a:endParaRPr lang="en-IN" sz="900" dirty="0"/>
            </a:p>
            <a:p>
              <a:r>
                <a:rPr lang="en-IN" sz="900" dirty="0"/>
                <a:t>One-to-Many from </a:t>
              </a:r>
              <a:r>
                <a:rPr lang="en-IN" sz="900" b="1" dirty="0"/>
                <a:t>employees</a:t>
              </a:r>
              <a:r>
                <a:rPr lang="en-IN" sz="900" dirty="0"/>
                <a:t> to </a:t>
              </a:r>
              <a:r>
                <a:rPr lang="en-IN" sz="900" b="1" dirty="0"/>
                <a:t>orders</a:t>
              </a:r>
              <a:endParaRPr lang="en-IN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023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/>
          <p:cNvGrpSpPr/>
          <p:nvPr/>
        </p:nvGrpSpPr>
        <p:grpSpPr>
          <a:xfrm>
            <a:off x="4791246" y="464735"/>
            <a:ext cx="3552939" cy="1493807"/>
            <a:chOff x="4933219" y="1444012"/>
            <a:chExt cx="3125343" cy="1431597"/>
          </a:xfrm>
        </p:grpSpPr>
        <p:sp>
          <p:nvSpPr>
            <p:cNvPr id="51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2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53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54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55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56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4791245" y="2148891"/>
            <a:ext cx="3546661" cy="2276857"/>
            <a:chOff x="4933218" y="3227094"/>
            <a:chExt cx="3125344" cy="688234"/>
          </a:xfrm>
        </p:grpSpPr>
        <p:grpSp>
          <p:nvGrpSpPr>
            <p:cNvPr id="58" name="Group 57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60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61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59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2" name="Text 2"/>
          <p:cNvSpPr/>
          <p:nvPr/>
        </p:nvSpPr>
        <p:spPr>
          <a:xfrm>
            <a:off x="151962" y="259189"/>
            <a:ext cx="3972706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 Trends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3"/>
          <p:cNvSpPr/>
          <p:nvPr/>
        </p:nvSpPr>
        <p:spPr>
          <a:xfrm>
            <a:off x="151962" y="793356"/>
            <a:ext cx="4925503" cy="36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order volumes, revenue patterns, and temporal buying behavior</a:t>
            </a:r>
            <a:endParaRPr lang="en-US" sz="13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939" y="1013796"/>
            <a:ext cx="3037146" cy="57459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144" y="2469587"/>
            <a:ext cx="1724266" cy="571580"/>
          </a:xfrm>
          <a:prstGeom prst="rect">
            <a:avLst/>
          </a:prstGeom>
        </p:spPr>
      </p:pic>
      <p:sp>
        <p:nvSpPr>
          <p:cNvPr id="38" name="Shape 3"/>
          <p:cNvSpPr/>
          <p:nvPr/>
        </p:nvSpPr>
        <p:spPr>
          <a:xfrm>
            <a:off x="476212" y="1358673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4"/>
          <p:cNvSpPr/>
          <p:nvPr/>
        </p:nvSpPr>
        <p:spPr>
          <a:xfrm>
            <a:off x="476212" y="1358673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40" name="Text 5"/>
          <p:cNvSpPr/>
          <p:nvPr/>
        </p:nvSpPr>
        <p:spPr>
          <a:xfrm>
            <a:off x="567652" y="1358673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41" name="Text 6"/>
          <p:cNvSpPr/>
          <p:nvPr/>
        </p:nvSpPr>
        <p:spPr>
          <a:xfrm>
            <a:off x="567652" y="1646149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 smtClean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orders have been placed in total?</a:t>
            </a:r>
            <a:endParaRPr lang="en-US" sz="950" dirty="0"/>
          </a:p>
        </p:txBody>
      </p:sp>
      <p:sp>
        <p:nvSpPr>
          <p:cNvPr id="42" name="Shape 7"/>
          <p:cNvSpPr/>
          <p:nvPr/>
        </p:nvSpPr>
        <p:spPr>
          <a:xfrm>
            <a:off x="476212" y="2382801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8"/>
          <p:cNvSpPr/>
          <p:nvPr/>
        </p:nvSpPr>
        <p:spPr>
          <a:xfrm>
            <a:off x="476212" y="2382801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44" name="Text 9"/>
          <p:cNvSpPr/>
          <p:nvPr/>
        </p:nvSpPr>
        <p:spPr>
          <a:xfrm>
            <a:off x="567652" y="238280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45" name="Text 10"/>
          <p:cNvSpPr/>
          <p:nvPr/>
        </p:nvSpPr>
        <p:spPr>
          <a:xfrm>
            <a:off x="567652" y="2670277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COUNT() aggregate function on the orders table to return the total number of order records. No grouping is needed since we want a single global count.</a:t>
            </a:r>
            <a:endParaRPr lang="en-US" sz="850" dirty="0"/>
          </a:p>
        </p:txBody>
      </p:sp>
      <p:sp>
        <p:nvSpPr>
          <p:cNvPr id="46" name="Shape 11"/>
          <p:cNvSpPr/>
          <p:nvPr/>
        </p:nvSpPr>
        <p:spPr>
          <a:xfrm>
            <a:off x="476212" y="3900705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12"/>
          <p:cNvSpPr/>
          <p:nvPr/>
        </p:nvSpPr>
        <p:spPr>
          <a:xfrm>
            <a:off x="476212" y="3900705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48" name="Text 13"/>
          <p:cNvSpPr/>
          <p:nvPr/>
        </p:nvSpPr>
        <p:spPr>
          <a:xfrm>
            <a:off x="604228" y="3918993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49" name="Text 14"/>
          <p:cNvSpPr/>
          <p:nvPr/>
        </p:nvSpPr>
        <p:spPr>
          <a:xfrm>
            <a:off x="604228" y="4101873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has processed 300 total orders, forming the baseline for all trend and performance analyses.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449171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4791246" y="464735"/>
            <a:ext cx="3552939" cy="1493807"/>
            <a:chOff x="4933219" y="1444012"/>
            <a:chExt cx="3125343" cy="1431597"/>
          </a:xfrm>
        </p:grpSpPr>
        <p:sp>
          <p:nvSpPr>
            <p:cNvPr id="21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2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23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24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25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26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791245" y="2148891"/>
            <a:ext cx="3546661" cy="2276857"/>
            <a:chOff x="4933218" y="3227094"/>
            <a:chExt cx="3125344" cy="688234"/>
          </a:xfrm>
        </p:grpSpPr>
        <p:grpSp>
          <p:nvGrpSpPr>
            <p:cNvPr id="28" name="Group 27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30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31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29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32" name="Text 2"/>
          <p:cNvSpPr/>
          <p:nvPr/>
        </p:nvSpPr>
        <p:spPr>
          <a:xfrm>
            <a:off x="151962" y="259189"/>
            <a:ext cx="3972706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 Trends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3" name="Shape 3"/>
          <p:cNvSpPr/>
          <p:nvPr/>
        </p:nvSpPr>
        <p:spPr>
          <a:xfrm>
            <a:off x="283464" y="1094610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4"/>
          <p:cNvSpPr/>
          <p:nvPr/>
        </p:nvSpPr>
        <p:spPr>
          <a:xfrm>
            <a:off x="283464" y="1094610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35" name="Text 5"/>
          <p:cNvSpPr/>
          <p:nvPr/>
        </p:nvSpPr>
        <p:spPr>
          <a:xfrm>
            <a:off x="374904" y="109461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36" name="Text 6"/>
          <p:cNvSpPr/>
          <p:nvPr/>
        </p:nvSpPr>
        <p:spPr>
          <a:xfrm>
            <a:off x="374904" y="136893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value per order?</a:t>
            </a:r>
            <a:endParaRPr lang="en-US" sz="950" dirty="0"/>
          </a:p>
        </p:txBody>
      </p:sp>
      <p:sp>
        <p:nvSpPr>
          <p:cNvPr id="37" name="Shape 7"/>
          <p:cNvSpPr/>
          <p:nvPr/>
        </p:nvSpPr>
        <p:spPr>
          <a:xfrm>
            <a:off x="283464" y="2118738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8"/>
          <p:cNvSpPr/>
          <p:nvPr/>
        </p:nvSpPr>
        <p:spPr>
          <a:xfrm>
            <a:off x="283464" y="2118738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9" name="Text 9"/>
          <p:cNvSpPr/>
          <p:nvPr/>
        </p:nvSpPr>
        <p:spPr>
          <a:xfrm>
            <a:off x="374904" y="211873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40" name="Text 10"/>
          <p:cNvSpPr/>
          <p:nvPr/>
        </p:nvSpPr>
        <p:spPr>
          <a:xfrm>
            <a:off x="374904" y="2393058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orders, order_details, and products tables. Groups by ord_id and uses AVG(price) to compute the mean product price per individual order across all its line items.</a:t>
            </a:r>
            <a:endParaRPr lang="en-US" sz="850" dirty="0"/>
          </a:p>
        </p:txBody>
      </p:sp>
      <p:sp>
        <p:nvSpPr>
          <p:cNvPr id="41" name="Shape 11"/>
          <p:cNvSpPr/>
          <p:nvPr/>
        </p:nvSpPr>
        <p:spPr>
          <a:xfrm>
            <a:off x="283464" y="3636642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12"/>
          <p:cNvSpPr/>
          <p:nvPr/>
        </p:nvSpPr>
        <p:spPr>
          <a:xfrm>
            <a:off x="283464" y="3636642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43" name="Text 13"/>
          <p:cNvSpPr/>
          <p:nvPr/>
        </p:nvSpPr>
        <p:spPr>
          <a:xfrm>
            <a:off x="411480" y="365493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44" name="Text 14"/>
          <p:cNvSpPr/>
          <p:nvPr/>
        </p:nvSpPr>
        <p:spPr>
          <a:xfrm>
            <a:off x="411480" y="383781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helps identify purchasing power; higher averages indicate premium product affinity or bulk buying behavior.</a:t>
            </a:r>
            <a:endParaRPr lang="en-US" sz="850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904" y="833556"/>
            <a:ext cx="3395955" cy="912346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3"/>
          <a:srcRect l="2137" r="5948" b="6124"/>
          <a:stretch/>
        </p:blipFill>
        <p:spPr>
          <a:xfrm>
            <a:off x="5480128" y="2324523"/>
            <a:ext cx="2539269" cy="188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13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791246" y="464735"/>
            <a:ext cx="3552939" cy="1493807"/>
            <a:chOff x="4933219" y="1444012"/>
            <a:chExt cx="3125343" cy="1431597"/>
          </a:xfrm>
        </p:grpSpPr>
        <p:sp>
          <p:nvSpPr>
            <p:cNvPr id="3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5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6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7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8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791245" y="2148891"/>
            <a:ext cx="3546661" cy="2276857"/>
            <a:chOff x="4933218" y="3227094"/>
            <a:chExt cx="3125344" cy="688234"/>
          </a:xfrm>
        </p:grpSpPr>
        <p:grpSp>
          <p:nvGrpSpPr>
            <p:cNvPr id="10" name="Group 9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2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3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1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4" name="Text 2"/>
          <p:cNvSpPr/>
          <p:nvPr/>
        </p:nvSpPr>
        <p:spPr>
          <a:xfrm>
            <a:off x="151962" y="259189"/>
            <a:ext cx="3972706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 Trends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Shape 3"/>
          <p:cNvSpPr/>
          <p:nvPr/>
        </p:nvSpPr>
        <p:spPr>
          <a:xfrm>
            <a:off x="356616" y="1044142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356616" y="1044142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448056" y="104414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448056" y="131846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which dates were the most orders placed?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356616" y="206827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356616" y="2068270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448056" y="206827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448056" y="2342590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order_date and ord_id from the orders table, ordering results in descending order by ord_id. This surfaces the most recent or highest-volume order dates at the top.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356616" y="3586174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356616" y="3586174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484632" y="360446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484632" y="378734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peak order dates enables targeted promotions and inventory pre-positioning for high-demand periods.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852" y="942172"/>
            <a:ext cx="2638793" cy="75258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456" y="2243041"/>
            <a:ext cx="1810003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1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488639" y="412108"/>
            <a:ext cx="4155401" cy="2192946"/>
            <a:chOff x="4933219" y="1444012"/>
            <a:chExt cx="3125343" cy="1431597"/>
          </a:xfrm>
        </p:grpSpPr>
        <p:sp>
          <p:nvSpPr>
            <p:cNvPr id="3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5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6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7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8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88639" y="2737507"/>
            <a:ext cx="4155401" cy="1702925"/>
            <a:chOff x="4933218" y="3227094"/>
            <a:chExt cx="3125344" cy="688234"/>
          </a:xfrm>
        </p:grpSpPr>
        <p:grpSp>
          <p:nvGrpSpPr>
            <p:cNvPr id="10" name="Group 9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2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3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1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4" name="Text 2"/>
          <p:cNvSpPr/>
          <p:nvPr/>
        </p:nvSpPr>
        <p:spPr>
          <a:xfrm>
            <a:off x="151962" y="259189"/>
            <a:ext cx="3972706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 Trends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Shape 3"/>
          <p:cNvSpPr/>
          <p:nvPr/>
        </p:nvSpPr>
        <p:spPr>
          <a:xfrm>
            <a:off x="283464" y="1033272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283464" y="1033272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374904" y="10332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374904" y="130759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monthly trends in order volume and revenue?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283464" y="205740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283464" y="2057400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374904" y="20574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374904" y="2331720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STR_TO_DATE to parse the varchar order_date, extracts MONTH(), then aggregates SUM(quantity) and SUM(total_price) per product per month using JOINs across order_details, orders, and products.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283464" y="3575304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283464" y="3575304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411480" y="359359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411480" y="37764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 reveal seasonal demand spikes — critical for procurement planning and promotional budgeting.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719" y="792286"/>
            <a:ext cx="4051143" cy="163098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039" y="2871637"/>
            <a:ext cx="3387698" cy="138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674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488639" y="412108"/>
            <a:ext cx="4155401" cy="2192946"/>
            <a:chOff x="4933219" y="1444012"/>
            <a:chExt cx="3125343" cy="1431597"/>
          </a:xfrm>
        </p:grpSpPr>
        <p:sp>
          <p:nvSpPr>
            <p:cNvPr id="3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5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6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7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8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88639" y="2737507"/>
            <a:ext cx="4155401" cy="1702925"/>
            <a:chOff x="4933218" y="3227094"/>
            <a:chExt cx="3125344" cy="688234"/>
          </a:xfrm>
        </p:grpSpPr>
        <p:grpSp>
          <p:nvGrpSpPr>
            <p:cNvPr id="10" name="Group 9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2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3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1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4" name="Text 2"/>
          <p:cNvSpPr/>
          <p:nvPr/>
        </p:nvSpPr>
        <p:spPr>
          <a:xfrm>
            <a:off x="151962" y="259189"/>
            <a:ext cx="3972706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 Trends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Shape 3"/>
          <p:cNvSpPr/>
          <p:nvPr/>
        </p:nvSpPr>
        <p:spPr>
          <a:xfrm>
            <a:off x="356616" y="1005840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356616" y="1005840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448056" y="1005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448056" y="128016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order patterns vary across weekdays and weekends?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356616" y="2029968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356616" y="2029968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448056" y="20299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448056" y="2304288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WEEKDAY() on the parsed date and a CASE expression to classify orders as 'Weekday' or 'Weekend'. Aggregates volume and revenue per product per day type via triple JOIN.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356616" y="3547872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356616" y="3547872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484632" y="35661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484632" y="3749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 weekday segmentation helps allocate staff and optimize stock replenishment cycles for peak trading days.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529" y="774760"/>
            <a:ext cx="4075489" cy="169607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700" y="2868868"/>
            <a:ext cx="3402428" cy="143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05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791246" y="1648189"/>
            <a:ext cx="3892265" cy="1493807"/>
            <a:chOff x="4933219" y="1444012"/>
            <a:chExt cx="3125343" cy="1431597"/>
          </a:xfrm>
        </p:grpSpPr>
        <p:sp>
          <p:nvSpPr>
            <p:cNvPr id="3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4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5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6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7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8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791245" y="3332345"/>
            <a:ext cx="3892266" cy="1014621"/>
            <a:chOff x="4933218" y="3227094"/>
            <a:chExt cx="3125344" cy="688234"/>
          </a:xfrm>
        </p:grpSpPr>
        <p:grpSp>
          <p:nvGrpSpPr>
            <p:cNvPr id="10" name="Group 9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2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3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1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4" name="Text 2"/>
          <p:cNvSpPr/>
          <p:nvPr/>
        </p:nvSpPr>
        <p:spPr>
          <a:xfrm>
            <a:off x="208300" y="287311"/>
            <a:ext cx="3972706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208300" y="780200"/>
            <a:ext cx="6462215" cy="572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smtClean="0">
                <a:solidFill>
                  <a:srgbClr val="8AA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</a:t>
            </a:r>
            <a:r>
              <a:rPr lang="en-US" sz="1300" dirty="0">
                <a:solidFill>
                  <a:srgbClr val="8AA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purchasing behavior, frequency, and value contribution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6" name="Shape 3"/>
          <p:cNvSpPr/>
          <p:nvPr/>
        </p:nvSpPr>
        <p:spPr>
          <a:xfrm>
            <a:off x="421348" y="1392157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4"/>
          <p:cNvSpPr/>
          <p:nvPr/>
        </p:nvSpPr>
        <p:spPr>
          <a:xfrm>
            <a:off x="421348" y="1392157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8" name="Text 5"/>
          <p:cNvSpPr/>
          <p:nvPr/>
        </p:nvSpPr>
        <p:spPr>
          <a:xfrm>
            <a:off x="512788" y="13921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9" name="Text 6"/>
          <p:cNvSpPr/>
          <p:nvPr/>
        </p:nvSpPr>
        <p:spPr>
          <a:xfrm>
            <a:off x="512788" y="1666477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unique customers have placed orders?</a:t>
            </a:r>
            <a:endParaRPr lang="en-US" sz="950" dirty="0"/>
          </a:p>
        </p:txBody>
      </p:sp>
      <p:sp>
        <p:nvSpPr>
          <p:cNvPr id="20" name="Shape 7"/>
          <p:cNvSpPr/>
          <p:nvPr/>
        </p:nvSpPr>
        <p:spPr>
          <a:xfrm>
            <a:off x="421348" y="2416285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8"/>
          <p:cNvSpPr/>
          <p:nvPr/>
        </p:nvSpPr>
        <p:spPr>
          <a:xfrm>
            <a:off x="421348" y="2416285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2" name="Text 9"/>
          <p:cNvSpPr/>
          <p:nvPr/>
        </p:nvSpPr>
        <p:spPr>
          <a:xfrm>
            <a:off x="512788" y="24162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3" name="Text 10"/>
          <p:cNvSpPr/>
          <p:nvPr/>
        </p:nvSpPr>
        <p:spPr>
          <a:xfrm>
            <a:off x="512788" y="2690605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COUNT(DISTINCT cust_id) on the orders table to count only customers who have at least one recorded order — excluding registered customers who never purchased.</a:t>
            </a:r>
            <a:endParaRPr lang="en-US" sz="850" dirty="0"/>
          </a:p>
        </p:txBody>
      </p:sp>
      <p:sp>
        <p:nvSpPr>
          <p:cNvPr id="24" name="Shape 11"/>
          <p:cNvSpPr/>
          <p:nvPr/>
        </p:nvSpPr>
        <p:spPr>
          <a:xfrm>
            <a:off x="421348" y="3934189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2"/>
          <p:cNvSpPr/>
          <p:nvPr/>
        </p:nvSpPr>
        <p:spPr>
          <a:xfrm>
            <a:off x="421348" y="3934189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6" name="Text 13"/>
          <p:cNvSpPr/>
          <p:nvPr/>
        </p:nvSpPr>
        <p:spPr>
          <a:xfrm>
            <a:off x="549364" y="3952477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7" name="Text 14"/>
          <p:cNvSpPr/>
          <p:nvPr/>
        </p:nvSpPr>
        <p:spPr>
          <a:xfrm>
            <a:off x="549364" y="4135357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active customers = true buyer base. Comparing this against total registered customers reveals engagement rate.</a:t>
            </a:r>
            <a:endParaRPr lang="en-US" sz="8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445" y="2312002"/>
            <a:ext cx="3793866" cy="39162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135" y="3490011"/>
            <a:ext cx="2838846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16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283464" y="1188720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4"/>
          <p:cNvSpPr/>
          <p:nvPr/>
        </p:nvSpPr>
        <p:spPr>
          <a:xfrm>
            <a:off x="283464" y="1188720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4" name="Text 5"/>
          <p:cNvSpPr/>
          <p:nvPr/>
        </p:nvSpPr>
        <p:spPr>
          <a:xfrm>
            <a:off x="374904" y="1188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5" name="Text 6"/>
          <p:cNvSpPr/>
          <p:nvPr/>
        </p:nvSpPr>
        <p:spPr>
          <a:xfrm>
            <a:off x="374904" y="146304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have placed the highest number of orders?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283464" y="2212848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8"/>
          <p:cNvSpPr/>
          <p:nvPr/>
        </p:nvSpPr>
        <p:spPr>
          <a:xfrm>
            <a:off x="283464" y="2212848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8" name="Text 9"/>
          <p:cNvSpPr/>
          <p:nvPr/>
        </p:nvSpPr>
        <p:spPr>
          <a:xfrm>
            <a:off x="374904" y="22128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9" name="Text 10"/>
          <p:cNvSpPr/>
          <p:nvPr/>
        </p:nvSpPr>
        <p:spPr>
          <a:xfrm>
            <a:off x="374904" y="2487168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the orders table by cust_id and counts ord_id occurrences. Results are ordered descending by order count to rank customers from most to least frequent buyers.</a:t>
            </a:r>
            <a:endParaRPr lang="en-US" sz="850" dirty="0"/>
          </a:p>
        </p:txBody>
      </p:sp>
      <p:sp>
        <p:nvSpPr>
          <p:cNvPr id="10" name="Shape 11"/>
          <p:cNvSpPr/>
          <p:nvPr/>
        </p:nvSpPr>
        <p:spPr>
          <a:xfrm>
            <a:off x="283464" y="3730752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12"/>
          <p:cNvSpPr/>
          <p:nvPr/>
        </p:nvSpPr>
        <p:spPr>
          <a:xfrm>
            <a:off x="283464" y="3730752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2" name="Text 13"/>
          <p:cNvSpPr/>
          <p:nvPr/>
        </p:nvSpPr>
        <p:spPr>
          <a:xfrm>
            <a:off x="411480" y="374904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13" name="Text 14"/>
          <p:cNvSpPr/>
          <p:nvPr/>
        </p:nvSpPr>
        <p:spPr>
          <a:xfrm>
            <a:off x="411480" y="39319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buyers are the store's loyalty base — ideal targets for retention programs and exclusive discount offers.</a:t>
            </a:r>
            <a:endParaRPr lang="en-US" sz="850" dirty="0"/>
          </a:p>
        </p:txBody>
      </p:sp>
      <p:sp>
        <p:nvSpPr>
          <p:cNvPr id="26" name="Text 2"/>
          <p:cNvSpPr/>
          <p:nvPr/>
        </p:nvSpPr>
        <p:spPr>
          <a:xfrm>
            <a:off x="208300" y="287311"/>
            <a:ext cx="3972706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4488639" y="412108"/>
            <a:ext cx="4155401" cy="2192946"/>
            <a:chOff x="4933219" y="1444012"/>
            <a:chExt cx="3125343" cy="1431597"/>
          </a:xfrm>
        </p:grpSpPr>
        <p:sp>
          <p:nvSpPr>
            <p:cNvPr id="35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6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37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38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39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40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488639" y="2737507"/>
            <a:ext cx="4155401" cy="1702925"/>
            <a:chOff x="4933218" y="3227094"/>
            <a:chExt cx="3125344" cy="688234"/>
          </a:xfrm>
        </p:grpSpPr>
        <p:grpSp>
          <p:nvGrpSpPr>
            <p:cNvPr id="42" name="Group 41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44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45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43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pic>
        <p:nvPicPr>
          <p:cNvPr id="46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1060162"/>
            <a:ext cx="4020111" cy="1152686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887" y="2836434"/>
            <a:ext cx="1826252" cy="151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6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08300" y="287311"/>
            <a:ext cx="3972706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488639" y="412108"/>
            <a:ext cx="4155401" cy="2192946"/>
            <a:chOff x="4933219" y="1444012"/>
            <a:chExt cx="3125343" cy="1431597"/>
          </a:xfrm>
        </p:grpSpPr>
        <p:sp>
          <p:nvSpPr>
            <p:cNvPr id="4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6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7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8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9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88639" y="2737507"/>
            <a:ext cx="4155401" cy="1702925"/>
            <a:chOff x="4933218" y="3227094"/>
            <a:chExt cx="3125344" cy="688234"/>
          </a:xfrm>
        </p:grpSpPr>
        <p:grpSp>
          <p:nvGrpSpPr>
            <p:cNvPr id="11" name="Group 10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3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4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2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5" name="Shape 3"/>
          <p:cNvSpPr/>
          <p:nvPr/>
        </p:nvSpPr>
        <p:spPr>
          <a:xfrm>
            <a:off x="356616" y="1005840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356616" y="1005840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448056" y="1005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448056" y="128016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and average purchase value per customer?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356616" y="2029968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356616" y="2029968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448056" y="20299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448056" y="2304288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order_details, orders, and customers to link purchase amounts to named customers. SUM(total_price) gives lifetime value; AVG(total_price) reveals typical basket size per customer.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356616" y="3547872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356616" y="3547872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484632" y="35661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484632" y="3749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high totals but low averages make many small purchases; those with high averages but few orders are premium buyers — both require different retention strategies.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043" y="958723"/>
            <a:ext cx="4004085" cy="122809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225" y="2923731"/>
            <a:ext cx="3449607" cy="126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75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08300" y="287311"/>
            <a:ext cx="3972706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488639" y="412108"/>
            <a:ext cx="4155401" cy="2192946"/>
            <a:chOff x="4933219" y="1444012"/>
            <a:chExt cx="3125343" cy="1431597"/>
          </a:xfrm>
        </p:grpSpPr>
        <p:sp>
          <p:nvSpPr>
            <p:cNvPr id="4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6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7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8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9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88639" y="2737507"/>
            <a:ext cx="4155401" cy="1702925"/>
            <a:chOff x="4933218" y="3227094"/>
            <a:chExt cx="3125344" cy="688234"/>
          </a:xfrm>
        </p:grpSpPr>
        <p:grpSp>
          <p:nvGrpSpPr>
            <p:cNvPr id="11" name="Group 10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3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4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2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5" name="Shape 3"/>
          <p:cNvSpPr/>
          <p:nvPr/>
        </p:nvSpPr>
        <p:spPr>
          <a:xfrm>
            <a:off x="320040" y="1033272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320040" y="1033272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411480" y="10332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411480" y="130759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 5 customers by total purchase amount?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320040" y="205740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320040" y="2057400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411480" y="20574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411480" y="2331720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join pattern as Q3 but uses LIMIT 5 to return only the five highest-spending customers ranked by SUM(total_price). Ideal for VIP identification and reporting dashboards.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320040" y="3575304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320040" y="3575304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448056" y="359359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448056" y="37764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— led by Chetan Naidu (₹11,257) — collectively account for a significant share of total revenue, validating a focused VIP program.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931" y="2868867"/>
            <a:ext cx="3357112" cy="1326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184" y="1016009"/>
            <a:ext cx="3899803" cy="116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60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2"/>
          <p:cNvSpPr/>
          <p:nvPr/>
        </p:nvSpPr>
        <p:spPr>
          <a:xfrm>
            <a:off x="208300" y="287311"/>
            <a:ext cx="4330808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208301" y="1163756"/>
            <a:ext cx="4508424" cy="218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smtClean="0">
                <a:solidFill>
                  <a:srgbClr val="8AA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</a:t>
            </a:r>
            <a:r>
              <a:rPr lang="en-US" sz="1300" dirty="0">
                <a:solidFill>
                  <a:srgbClr val="8AA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and categories by revenue, volume, and supplier performance</a:t>
            </a:r>
            <a:endParaRPr lang="en-US" sz="1300" dirty="0"/>
          </a:p>
          <a:p>
            <a:endParaRPr lang="en-US" sz="1300" dirty="0" smtClean="0"/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6" name="Shape 3"/>
          <p:cNvSpPr/>
          <p:nvPr/>
        </p:nvSpPr>
        <p:spPr>
          <a:xfrm>
            <a:off x="338116" y="1480816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4"/>
          <p:cNvSpPr/>
          <p:nvPr/>
        </p:nvSpPr>
        <p:spPr>
          <a:xfrm>
            <a:off x="338116" y="1480816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8" name="Text 5"/>
          <p:cNvSpPr/>
          <p:nvPr/>
        </p:nvSpPr>
        <p:spPr>
          <a:xfrm>
            <a:off x="429556" y="14808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9" name="Text 6"/>
          <p:cNvSpPr/>
          <p:nvPr/>
        </p:nvSpPr>
        <p:spPr>
          <a:xfrm>
            <a:off x="429556" y="175513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products exist in each category?</a:t>
            </a:r>
            <a:endParaRPr lang="en-US" sz="950" dirty="0"/>
          </a:p>
        </p:txBody>
      </p:sp>
      <p:sp>
        <p:nvSpPr>
          <p:cNvPr id="20" name="Shape 7"/>
          <p:cNvSpPr/>
          <p:nvPr/>
        </p:nvSpPr>
        <p:spPr>
          <a:xfrm>
            <a:off x="338116" y="2504944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8"/>
          <p:cNvSpPr/>
          <p:nvPr/>
        </p:nvSpPr>
        <p:spPr>
          <a:xfrm>
            <a:off x="338116" y="2504944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2" name="Text 9"/>
          <p:cNvSpPr/>
          <p:nvPr/>
        </p:nvSpPr>
        <p:spPr>
          <a:xfrm>
            <a:off x="429556" y="25049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3" name="Text 10"/>
          <p:cNvSpPr/>
          <p:nvPr/>
        </p:nvSpPr>
        <p:spPr>
          <a:xfrm>
            <a:off x="429556" y="2779264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JOINs products to categories on cat_id and groups by cat_name, counting prod_id per group. LEFT JOIN ensures categories with zero products still appear in the result.</a:t>
            </a:r>
            <a:endParaRPr lang="en-US" sz="850" dirty="0"/>
          </a:p>
        </p:txBody>
      </p:sp>
      <p:sp>
        <p:nvSpPr>
          <p:cNvPr id="24" name="Shape 11"/>
          <p:cNvSpPr/>
          <p:nvPr/>
        </p:nvSpPr>
        <p:spPr>
          <a:xfrm>
            <a:off x="338116" y="4022848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2"/>
          <p:cNvSpPr/>
          <p:nvPr/>
        </p:nvSpPr>
        <p:spPr>
          <a:xfrm>
            <a:off x="338116" y="4022848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6" name="Text 13"/>
          <p:cNvSpPr/>
          <p:nvPr/>
        </p:nvSpPr>
        <p:spPr>
          <a:xfrm>
            <a:off x="466132" y="40411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7" name="Text 14"/>
          <p:cNvSpPr/>
          <p:nvPr/>
        </p:nvSpPr>
        <p:spPr>
          <a:xfrm>
            <a:off x="466132" y="422401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&amp; Confectioneries holds the most SKUs, suggesting a wide variety strategy in the store's highest-revenue category.</a:t>
            </a:r>
            <a:endParaRPr lang="en-US" sz="850" dirty="0"/>
          </a:p>
        </p:txBody>
      </p:sp>
      <p:grpSp>
        <p:nvGrpSpPr>
          <p:cNvPr id="28" name="Group 27"/>
          <p:cNvGrpSpPr/>
          <p:nvPr/>
        </p:nvGrpSpPr>
        <p:grpSpPr>
          <a:xfrm>
            <a:off x="4488639" y="412108"/>
            <a:ext cx="4155401" cy="2192946"/>
            <a:chOff x="4933219" y="1444012"/>
            <a:chExt cx="3125343" cy="1431597"/>
          </a:xfrm>
        </p:grpSpPr>
        <p:sp>
          <p:nvSpPr>
            <p:cNvPr id="29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0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31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32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33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34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488639" y="2737507"/>
            <a:ext cx="4155401" cy="1702925"/>
            <a:chOff x="4933218" y="3227094"/>
            <a:chExt cx="3125344" cy="688234"/>
          </a:xfrm>
        </p:grpSpPr>
        <p:grpSp>
          <p:nvGrpSpPr>
            <p:cNvPr id="36" name="Group 35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38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39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37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pic>
        <p:nvPicPr>
          <p:cNvPr id="40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536" y="1065167"/>
            <a:ext cx="3942443" cy="116198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887" y="2894157"/>
            <a:ext cx="2772162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95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08300" y="287311"/>
            <a:ext cx="4330808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488639" y="412108"/>
            <a:ext cx="4155401" cy="2192946"/>
            <a:chOff x="4933219" y="1444012"/>
            <a:chExt cx="3125343" cy="1431597"/>
          </a:xfrm>
        </p:grpSpPr>
        <p:sp>
          <p:nvSpPr>
            <p:cNvPr id="4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6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7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8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9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88639" y="2737507"/>
            <a:ext cx="4155401" cy="1702925"/>
            <a:chOff x="4933218" y="3227094"/>
            <a:chExt cx="3125344" cy="688234"/>
          </a:xfrm>
        </p:grpSpPr>
        <p:grpSp>
          <p:nvGrpSpPr>
            <p:cNvPr id="11" name="Group 10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3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4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2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5" name="Shape 3"/>
          <p:cNvSpPr/>
          <p:nvPr/>
        </p:nvSpPr>
        <p:spPr>
          <a:xfrm>
            <a:off x="356616" y="1136079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356616" y="1136079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448056" y="1136079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448056" y="1410399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price of products by category?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356616" y="2160207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356616" y="2160207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448056" y="216020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448056" y="2434527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JOINs products with categories and computes AVG(price) per category group. This reveals the price positioning and tier of each product segment in the store.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356616" y="3678111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356616" y="3678111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484632" y="3696399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484632" y="3879279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higher average prices point to premium positioning; lower averages indicate commodity/staple segments with high volume potential.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478" y="1111617"/>
            <a:ext cx="3838213" cy="105592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887" y="2908447"/>
            <a:ext cx="2819794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46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08300" y="287311"/>
            <a:ext cx="4330808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488639" y="412108"/>
            <a:ext cx="4155401" cy="2192946"/>
            <a:chOff x="4933219" y="1444012"/>
            <a:chExt cx="3125343" cy="1431597"/>
          </a:xfrm>
        </p:grpSpPr>
        <p:sp>
          <p:nvSpPr>
            <p:cNvPr id="4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6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7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8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9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88639" y="2737507"/>
            <a:ext cx="4155401" cy="1702925"/>
            <a:chOff x="4933218" y="3227094"/>
            <a:chExt cx="3125344" cy="688234"/>
          </a:xfrm>
        </p:grpSpPr>
        <p:grpSp>
          <p:nvGrpSpPr>
            <p:cNvPr id="11" name="Group 10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3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4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2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39" name="Shape 3"/>
          <p:cNvSpPr/>
          <p:nvPr/>
        </p:nvSpPr>
        <p:spPr>
          <a:xfrm>
            <a:off x="356616" y="1115568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4"/>
          <p:cNvSpPr/>
          <p:nvPr/>
        </p:nvSpPr>
        <p:spPr>
          <a:xfrm>
            <a:off x="356616" y="1115568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41" name="Text 5"/>
          <p:cNvSpPr/>
          <p:nvPr/>
        </p:nvSpPr>
        <p:spPr>
          <a:xfrm>
            <a:off x="448056" y="11155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42" name="Text 6"/>
          <p:cNvSpPr/>
          <p:nvPr/>
        </p:nvSpPr>
        <p:spPr>
          <a:xfrm>
            <a:off x="448056" y="1389888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have the highest total sales volume (by quantity)?</a:t>
            </a:r>
            <a:endParaRPr lang="en-US" sz="950" dirty="0"/>
          </a:p>
        </p:txBody>
      </p:sp>
      <p:sp>
        <p:nvSpPr>
          <p:cNvPr id="43" name="Shape 7"/>
          <p:cNvSpPr/>
          <p:nvPr/>
        </p:nvSpPr>
        <p:spPr>
          <a:xfrm>
            <a:off x="356616" y="2139696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8"/>
          <p:cNvSpPr/>
          <p:nvPr/>
        </p:nvSpPr>
        <p:spPr>
          <a:xfrm>
            <a:off x="356616" y="2139696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45" name="Text 9"/>
          <p:cNvSpPr/>
          <p:nvPr/>
        </p:nvSpPr>
        <p:spPr>
          <a:xfrm>
            <a:off x="448056" y="21396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46" name="Text 10"/>
          <p:cNvSpPr/>
          <p:nvPr/>
        </p:nvSpPr>
        <p:spPr>
          <a:xfrm>
            <a:off x="448056" y="2414016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order_details with products, groups by product, and sums quantity ordered. LIMIT 5 returns top performers. This measures physical throughput rather than revenue.</a:t>
            </a:r>
            <a:endParaRPr lang="en-US" sz="850" dirty="0"/>
          </a:p>
        </p:txBody>
      </p:sp>
      <p:sp>
        <p:nvSpPr>
          <p:cNvPr id="47" name="Shape 11"/>
          <p:cNvSpPr/>
          <p:nvPr/>
        </p:nvSpPr>
        <p:spPr>
          <a:xfrm>
            <a:off x="356616" y="3657600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12"/>
          <p:cNvSpPr/>
          <p:nvPr/>
        </p:nvSpPr>
        <p:spPr>
          <a:xfrm>
            <a:off x="356616" y="3657600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49" name="Text 13"/>
          <p:cNvSpPr/>
          <p:nvPr/>
        </p:nvSpPr>
        <p:spPr>
          <a:xfrm>
            <a:off x="484632" y="36758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50" name="Text 14"/>
          <p:cNvSpPr/>
          <p:nvPr/>
        </p:nvSpPr>
        <p:spPr>
          <a:xfrm>
            <a:off x="484632" y="38587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leaders are the store's fast-moving goods — critical for safety stock, reorder thresholds, and supplier negotiation.</a:t>
            </a:r>
            <a:endParaRPr lang="en-US" sz="850" dirty="0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594" y="1067603"/>
            <a:ext cx="4075489" cy="1192194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862" y="2894157"/>
            <a:ext cx="2876951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14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08300" y="287311"/>
            <a:ext cx="4330808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488639" y="412108"/>
            <a:ext cx="4155401" cy="2192946"/>
            <a:chOff x="4933219" y="1444012"/>
            <a:chExt cx="3125343" cy="1431597"/>
          </a:xfrm>
        </p:grpSpPr>
        <p:sp>
          <p:nvSpPr>
            <p:cNvPr id="4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6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7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8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9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88639" y="2737507"/>
            <a:ext cx="4155401" cy="1702925"/>
            <a:chOff x="4933218" y="3227094"/>
            <a:chExt cx="3125344" cy="688234"/>
          </a:xfrm>
        </p:grpSpPr>
        <p:grpSp>
          <p:nvGrpSpPr>
            <p:cNvPr id="11" name="Group 10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3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4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2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5" name="Shape 3"/>
          <p:cNvSpPr/>
          <p:nvPr/>
        </p:nvSpPr>
        <p:spPr>
          <a:xfrm>
            <a:off x="356616" y="1115568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356616" y="1115568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448056" y="11155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448056" y="1389888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revenue generated by each product?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356616" y="2139696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356616" y="2139696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448056" y="21396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448056" y="2414016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order_details by product ID and sums total_price to compute cumulative revenue per product. Ranking by revenue DESC highlights the store's top money-generating SKUs.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356616" y="3657600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356616" y="3657600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484632" y="36758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484632" y="38587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Sanitizer is the top revenue-generating product (₹27,788), indicating strong demand for personal care items — warranting dedicated shelf space and promotions.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876" y="1153211"/>
            <a:ext cx="4016926" cy="95917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931" y="2838083"/>
            <a:ext cx="2737161" cy="148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97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08300" y="287311"/>
            <a:ext cx="4330808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488639" y="412108"/>
            <a:ext cx="4155401" cy="2192946"/>
            <a:chOff x="4933219" y="1444012"/>
            <a:chExt cx="3125343" cy="1431597"/>
          </a:xfrm>
        </p:grpSpPr>
        <p:sp>
          <p:nvSpPr>
            <p:cNvPr id="4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6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7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8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9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88639" y="2737507"/>
            <a:ext cx="4155401" cy="1702925"/>
            <a:chOff x="4933218" y="3227094"/>
            <a:chExt cx="3125344" cy="688234"/>
          </a:xfrm>
        </p:grpSpPr>
        <p:grpSp>
          <p:nvGrpSpPr>
            <p:cNvPr id="11" name="Group 10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3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4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2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27" name="Shape 3"/>
          <p:cNvSpPr/>
          <p:nvPr/>
        </p:nvSpPr>
        <p:spPr>
          <a:xfrm>
            <a:off x="405370" y="1078992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4"/>
          <p:cNvSpPr/>
          <p:nvPr/>
        </p:nvSpPr>
        <p:spPr>
          <a:xfrm>
            <a:off x="405370" y="1078992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9" name="Text 5"/>
          <p:cNvSpPr/>
          <p:nvPr/>
        </p:nvSpPr>
        <p:spPr>
          <a:xfrm>
            <a:off x="496810" y="10789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30" name="Text 6"/>
          <p:cNvSpPr/>
          <p:nvPr/>
        </p:nvSpPr>
        <p:spPr>
          <a:xfrm>
            <a:off x="496810" y="135331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product sales vary by category and supplier?</a:t>
            </a:r>
            <a:endParaRPr lang="en-US" sz="950" dirty="0"/>
          </a:p>
        </p:txBody>
      </p:sp>
      <p:sp>
        <p:nvSpPr>
          <p:cNvPr id="31" name="Shape 7"/>
          <p:cNvSpPr/>
          <p:nvPr/>
        </p:nvSpPr>
        <p:spPr>
          <a:xfrm>
            <a:off x="405370" y="210312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8"/>
          <p:cNvSpPr/>
          <p:nvPr/>
        </p:nvSpPr>
        <p:spPr>
          <a:xfrm>
            <a:off x="405370" y="2103120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33" name="Text 9"/>
          <p:cNvSpPr/>
          <p:nvPr/>
        </p:nvSpPr>
        <p:spPr>
          <a:xfrm>
            <a:off x="496810" y="21031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34" name="Text 10"/>
          <p:cNvSpPr/>
          <p:nvPr/>
        </p:nvSpPr>
        <p:spPr>
          <a:xfrm>
            <a:off x="496810" y="2377440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four-table JOIN (order_details → products → categories → supplier) groups results by category and supplier, computing both total units sold and total revenue. Reveals cross-dimensional performance.</a:t>
            </a:r>
            <a:endParaRPr lang="en-US" sz="850" dirty="0"/>
          </a:p>
        </p:txBody>
      </p:sp>
      <p:sp>
        <p:nvSpPr>
          <p:cNvPr id="35" name="Shape 11"/>
          <p:cNvSpPr/>
          <p:nvPr/>
        </p:nvSpPr>
        <p:spPr>
          <a:xfrm>
            <a:off x="405370" y="3621024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12"/>
          <p:cNvSpPr/>
          <p:nvPr/>
        </p:nvSpPr>
        <p:spPr>
          <a:xfrm>
            <a:off x="405370" y="3621024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37" name="Text 13"/>
          <p:cNvSpPr/>
          <p:nvPr/>
        </p:nvSpPr>
        <p:spPr>
          <a:xfrm>
            <a:off x="533386" y="363931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38" name="Text 14"/>
          <p:cNvSpPr/>
          <p:nvPr/>
        </p:nvSpPr>
        <p:spPr>
          <a:xfrm>
            <a:off x="533386" y="38221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cross-analysis identifies which supplier-category combinations drive the most revenue — essential for supplier performance reviews and category management.</a:t>
            </a:r>
            <a:endParaRPr lang="en-US" sz="850" dirty="0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215" y="798905"/>
            <a:ext cx="2954248" cy="169833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931" y="2942368"/>
            <a:ext cx="3299022" cy="135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69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3532" y="287311"/>
            <a:ext cx="4394884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633360" y="431842"/>
            <a:ext cx="4155401" cy="2192946"/>
            <a:chOff x="4933219" y="1444012"/>
            <a:chExt cx="3125343" cy="1431597"/>
          </a:xfrm>
        </p:grpSpPr>
        <p:sp>
          <p:nvSpPr>
            <p:cNvPr id="4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6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7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8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9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633360" y="2757241"/>
            <a:ext cx="4155401" cy="1702925"/>
            <a:chOff x="4933218" y="3227094"/>
            <a:chExt cx="3125344" cy="688234"/>
          </a:xfrm>
        </p:grpSpPr>
        <p:grpSp>
          <p:nvGrpSpPr>
            <p:cNvPr id="11" name="Group 10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3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4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2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5" name="Text 3"/>
          <p:cNvSpPr/>
          <p:nvPr/>
        </p:nvSpPr>
        <p:spPr>
          <a:xfrm>
            <a:off x="109735" y="808322"/>
            <a:ext cx="403327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employee order processing efficiency and revenue contribution</a:t>
            </a:r>
            <a:endParaRPr lang="en-US" sz="1300" dirty="0"/>
          </a:p>
        </p:txBody>
      </p:sp>
      <p:sp>
        <p:nvSpPr>
          <p:cNvPr id="16" name="Shape 3"/>
          <p:cNvSpPr/>
          <p:nvPr/>
        </p:nvSpPr>
        <p:spPr>
          <a:xfrm>
            <a:off x="320040" y="1494616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4"/>
          <p:cNvSpPr/>
          <p:nvPr/>
        </p:nvSpPr>
        <p:spPr>
          <a:xfrm>
            <a:off x="320040" y="1494616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8" name="Text 5"/>
          <p:cNvSpPr/>
          <p:nvPr/>
        </p:nvSpPr>
        <p:spPr>
          <a:xfrm>
            <a:off x="411480" y="14946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9" name="Text 6"/>
          <p:cNvSpPr/>
          <p:nvPr/>
        </p:nvSpPr>
        <p:spPr>
          <a:xfrm>
            <a:off x="411480" y="176893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employees have processed orders?</a:t>
            </a:r>
            <a:endParaRPr lang="en-US" sz="950" dirty="0"/>
          </a:p>
        </p:txBody>
      </p:sp>
      <p:sp>
        <p:nvSpPr>
          <p:cNvPr id="20" name="Shape 7"/>
          <p:cNvSpPr/>
          <p:nvPr/>
        </p:nvSpPr>
        <p:spPr>
          <a:xfrm>
            <a:off x="320040" y="2518744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8"/>
          <p:cNvSpPr/>
          <p:nvPr/>
        </p:nvSpPr>
        <p:spPr>
          <a:xfrm>
            <a:off x="320040" y="2518744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2" name="Text 9"/>
          <p:cNvSpPr/>
          <p:nvPr/>
        </p:nvSpPr>
        <p:spPr>
          <a:xfrm>
            <a:off x="411480" y="25187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3" name="Text 10"/>
          <p:cNvSpPr/>
          <p:nvPr/>
        </p:nvSpPr>
        <p:spPr>
          <a:xfrm>
            <a:off x="411480" y="2793064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COUNT(DISTINCT emp_id) on the orders table to identify unique employees linked to at least one order. Employees in the employees table but with no orders are excluded.</a:t>
            </a:r>
            <a:endParaRPr lang="en-US" sz="850" dirty="0"/>
          </a:p>
        </p:txBody>
      </p:sp>
      <p:sp>
        <p:nvSpPr>
          <p:cNvPr id="24" name="Shape 11"/>
          <p:cNvSpPr/>
          <p:nvPr/>
        </p:nvSpPr>
        <p:spPr>
          <a:xfrm>
            <a:off x="320040" y="4036648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2"/>
          <p:cNvSpPr/>
          <p:nvPr/>
        </p:nvSpPr>
        <p:spPr>
          <a:xfrm>
            <a:off x="320040" y="4036648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6" name="Text 13"/>
          <p:cNvSpPr/>
          <p:nvPr/>
        </p:nvSpPr>
        <p:spPr>
          <a:xfrm>
            <a:off x="448056" y="40549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7" name="Text 14"/>
          <p:cNvSpPr/>
          <p:nvPr/>
        </p:nvSpPr>
        <p:spPr>
          <a:xfrm>
            <a:off x="448056" y="423781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10 employees have processed orders, workload is well-distributed; disparities suggest training gaps or uneven scheduling.</a:t>
            </a:r>
            <a:endParaRPr lang="en-US" sz="8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905" y="2978103"/>
            <a:ext cx="2438740" cy="59063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05" y="1377802"/>
            <a:ext cx="3909856" cy="48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51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3532" y="287311"/>
            <a:ext cx="4394884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633360" y="431842"/>
            <a:ext cx="4155401" cy="2192946"/>
            <a:chOff x="4933219" y="1444012"/>
            <a:chExt cx="3125343" cy="1431597"/>
          </a:xfrm>
        </p:grpSpPr>
        <p:sp>
          <p:nvSpPr>
            <p:cNvPr id="4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6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7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8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9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633360" y="2757241"/>
            <a:ext cx="4155401" cy="1702925"/>
            <a:chOff x="4933218" y="3227094"/>
            <a:chExt cx="3125344" cy="688234"/>
          </a:xfrm>
        </p:grpSpPr>
        <p:grpSp>
          <p:nvGrpSpPr>
            <p:cNvPr id="11" name="Group 10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3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4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2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5" name="Shape 3"/>
          <p:cNvSpPr/>
          <p:nvPr/>
        </p:nvSpPr>
        <p:spPr>
          <a:xfrm>
            <a:off x="465423" y="1097280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465423" y="1097280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556863" y="10972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556863" y="137160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employees have handled the most orders?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465423" y="2121408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465423" y="2121408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556863" y="2121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556863" y="2395728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orders with employees on emp_id, groups by employee, and counts ord_id. Ranking descending surfaces the most active order processors — key for workload and incentive analysis.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465423" y="3639312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465423" y="3639312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593439" y="36576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593439" y="38404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Sharma leads with 38 orders handled; identifying top processors enables merit recognition and equitable task assignment across the team.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554" y="2888601"/>
            <a:ext cx="2703802" cy="144202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87" y="1157050"/>
            <a:ext cx="3764935" cy="89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92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3532" y="287311"/>
            <a:ext cx="4394884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633360" y="431842"/>
            <a:ext cx="4155401" cy="2192946"/>
            <a:chOff x="4933219" y="1444012"/>
            <a:chExt cx="3125343" cy="1431597"/>
          </a:xfrm>
        </p:grpSpPr>
        <p:sp>
          <p:nvSpPr>
            <p:cNvPr id="4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6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7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8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9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633360" y="2757241"/>
            <a:ext cx="4155401" cy="1702925"/>
            <a:chOff x="4933218" y="3227094"/>
            <a:chExt cx="3125344" cy="688234"/>
          </a:xfrm>
        </p:grpSpPr>
        <p:grpSp>
          <p:nvGrpSpPr>
            <p:cNvPr id="11" name="Group 10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3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4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2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5" name="Shape 3"/>
          <p:cNvSpPr/>
          <p:nvPr/>
        </p:nvSpPr>
        <p:spPr>
          <a:xfrm>
            <a:off x="504893" y="1133856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504893" y="1133856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596333" y="11338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596333" y="140817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sales value processed by each employee?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504893" y="2157984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504893" y="2157984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596333" y="21579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596333" y="2432304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Three-table JOIN (employees → orders → order_details) aggregates SUM(total_price) per employee. This shifts focus from order count to financial impact of each team member.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504893" y="3675888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504893" y="3675888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632909" y="36941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632909" y="387705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Singh leads total sales at ₹79,252 across 37 orders — demonstrating both volume and value efficiency as top revenue processor.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99" y="1161961"/>
            <a:ext cx="3883440" cy="104294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608" y="2853593"/>
            <a:ext cx="2327957" cy="152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97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3532" y="287311"/>
            <a:ext cx="4394884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633360" y="431842"/>
            <a:ext cx="4155401" cy="2192946"/>
            <a:chOff x="4933219" y="1444012"/>
            <a:chExt cx="3125343" cy="1431597"/>
          </a:xfrm>
        </p:grpSpPr>
        <p:sp>
          <p:nvSpPr>
            <p:cNvPr id="4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6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7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8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9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633360" y="2757241"/>
            <a:ext cx="4155401" cy="1702925"/>
            <a:chOff x="4933218" y="3227094"/>
            <a:chExt cx="3125344" cy="688234"/>
          </a:xfrm>
        </p:grpSpPr>
        <p:grpSp>
          <p:nvGrpSpPr>
            <p:cNvPr id="11" name="Group 10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3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4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2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5" name="Shape 3"/>
          <p:cNvSpPr/>
          <p:nvPr/>
        </p:nvSpPr>
        <p:spPr>
          <a:xfrm>
            <a:off x="432531" y="1152144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432531" y="1152144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523971" y="11521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523971" y="1426464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order value handled per employee?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432531" y="2176272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432531" y="2176272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523971" y="21762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523971" y="2450592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avg_order_value by dividing SUM(total_price) by COUNT(ord_id) using ROUND to 2 decimals. This reveals per-order efficiency rather than raw volume — useful for comparing high-count vs high-value handlers.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432531" y="3694176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432531" y="3694176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560547" y="37124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560547" y="389534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handling fewer but larger orders may serve premium customers; lower average per order with high count indicates bulk/everyday transaction processing.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632" y="808323"/>
            <a:ext cx="4080609" cy="17154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652" y="2921836"/>
            <a:ext cx="3038089" cy="134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546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/>
        </p:nvSpPr>
        <p:spPr>
          <a:xfrm>
            <a:off x="73532" y="287311"/>
            <a:ext cx="4394884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Contribution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33360" y="431842"/>
            <a:ext cx="4155401" cy="2192946"/>
            <a:chOff x="4933219" y="1444012"/>
            <a:chExt cx="3125343" cy="1431597"/>
          </a:xfrm>
        </p:grpSpPr>
        <p:sp>
          <p:nvSpPr>
            <p:cNvPr id="5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7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8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9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10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633360" y="2757241"/>
            <a:ext cx="4155401" cy="1702925"/>
            <a:chOff x="4933218" y="3227094"/>
            <a:chExt cx="3125344" cy="688234"/>
          </a:xfrm>
        </p:grpSpPr>
        <p:grpSp>
          <p:nvGrpSpPr>
            <p:cNvPr id="12" name="Group 11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4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5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3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6" name="Text 3"/>
          <p:cNvSpPr/>
          <p:nvPr/>
        </p:nvSpPr>
        <p:spPr>
          <a:xfrm>
            <a:off x="131568" y="804164"/>
            <a:ext cx="39536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supplier portfolio, pricing strategy, and revenue impact</a:t>
            </a:r>
            <a:endParaRPr lang="en-US" sz="1300" dirty="0"/>
          </a:p>
        </p:txBody>
      </p:sp>
      <p:sp>
        <p:nvSpPr>
          <p:cNvPr id="17" name="Shape 3"/>
          <p:cNvSpPr/>
          <p:nvPr/>
        </p:nvSpPr>
        <p:spPr>
          <a:xfrm>
            <a:off x="381877" y="1412457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4"/>
          <p:cNvSpPr/>
          <p:nvPr/>
        </p:nvSpPr>
        <p:spPr>
          <a:xfrm>
            <a:off x="381877" y="1412457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9" name="Text 5"/>
          <p:cNvSpPr/>
          <p:nvPr/>
        </p:nvSpPr>
        <p:spPr>
          <a:xfrm>
            <a:off x="473317" y="141245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20" name="Text 6"/>
          <p:cNvSpPr/>
          <p:nvPr/>
        </p:nvSpPr>
        <p:spPr>
          <a:xfrm>
            <a:off x="473317" y="1686777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suppliers are there in the database?</a:t>
            </a:r>
            <a:endParaRPr lang="en-US" sz="950" dirty="0"/>
          </a:p>
        </p:txBody>
      </p:sp>
      <p:sp>
        <p:nvSpPr>
          <p:cNvPr id="21" name="Shape 7"/>
          <p:cNvSpPr/>
          <p:nvPr/>
        </p:nvSpPr>
        <p:spPr>
          <a:xfrm>
            <a:off x="381877" y="2436585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8"/>
          <p:cNvSpPr/>
          <p:nvPr/>
        </p:nvSpPr>
        <p:spPr>
          <a:xfrm>
            <a:off x="381877" y="2436585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3" name="Text 9"/>
          <p:cNvSpPr/>
          <p:nvPr/>
        </p:nvSpPr>
        <p:spPr>
          <a:xfrm>
            <a:off x="473317" y="24365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4" name="Text 10"/>
          <p:cNvSpPr/>
          <p:nvPr/>
        </p:nvSpPr>
        <p:spPr>
          <a:xfrm>
            <a:off x="473317" y="2710905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COUNT(sup_id) aggregate on the supplier table returns the total number of registered suppliers. Provides the baseline for supplier portfolio analysis.</a:t>
            </a:r>
            <a:endParaRPr lang="en-US" sz="850" dirty="0"/>
          </a:p>
        </p:txBody>
      </p:sp>
      <p:sp>
        <p:nvSpPr>
          <p:cNvPr id="25" name="Shape 11"/>
          <p:cNvSpPr/>
          <p:nvPr/>
        </p:nvSpPr>
        <p:spPr>
          <a:xfrm>
            <a:off x="381877" y="3954489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2"/>
          <p:cNvSpPr/>
          <p:nvPr/>
        </p:nvSpPr>
        <p:spPr>
          <a:xfrm>
            <a:off x="381877" y="3954489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7" name="Text 13"/>
          <p:cNvSpPr/>
          <p:nvPr/>
        </p:nvSpPr>
        <p:spPr>
          <a:xfrm>
            <a:off x="509893" y="3972777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8" name="Text 14"/>
          <p:cNvSpPr/>
          <p:nvPr/>
        </p:nvSpPr>
        <p:spPr>
          <a:xfrm>
            <a:off x="509893" y="4155657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 suppliers serving 50 products (avg 10 products each), the store has moderate supplier diversity — reducing single-supplier dependency risk.</a:t>
            </a:r>
            <a:endParaRPr lang="en-US" sz="85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059" y="1336183"/>
            <a:ext cx="3505689" cy="53347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755" y="2960913"/>
            <a:ext cx="1533739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89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235833"/>
            <a:ext cx="8972550" cy="4448175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406217" y="1139382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406217" y="1139382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497657" y="113938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497657" y="141370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supplier provides the most products?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406217" y="216351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406217" y="2163510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497657" y="216351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497657" y="2437830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products with supplier on sup_id, groups by supplier, and counts prod_id. Ordering descending shows which vendor has the broadest product catalog supplied to the store.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406217" y="3681414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406217" y="3681414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534233" y="369970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534233" y="388258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supplier (by product count) is a strategic partner — their catalog depth gives them leverage in negotiations and their reliability is critical to store operations.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677" y="1324869"/>
            <a:ext cx="3955253" cy="102412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534" y="3009043"/>
            <a:ext cx="312463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9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235833"/>
            <a:ext cx="8972550" cy="4448175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478580" y="1133856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4"/>
          <p:cNvSpPr/>
          <p:nvPr/>
        </p:nvSpPr>
        <p:spPr>
          <a:xfrm>
            <a:off x="478580" y="1133856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570020" y="11338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6" name="Text 6"/>
          <p:cNvSpPr/>
          <p:nvPr/>
        </p:nvSpPr>
        <p:spPr>
          <a:xfrm>
            <a:off x="570020" y="140817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price of products from each supplier?</a:t>
            </a:r>
            <a:endParaRPr lang="en-US" sz="950" dirty="0"/>
          </a:p>
        </p:txBody>
      </p:sp>
      <p:sp>
        <p:nvSpPr>
          <p:cNvPr id="7" name="Shape 7"/>
          <p:cNvSpPr/>
          <p:nvPr/>
        </p:nvSpPr>
        <p:spPr>
          <a:xfrm>
            <a:off x="478580" y="2157984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8"/>
          <p:cNvSpPr/>
          <p:nvPr/>
        </p:nvSpPr>
        <p:spPr>
          <a:xfrm>
            <a:off x="478580" y="2157984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570020" y="21579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10" name="Text 10"/>
          <p:cNvSpPr/>
          <p:nvPr/>
        </p:nvSpPr>
        <p:spPr>
          <a:xfrm>
            <a:off x="570020" y="2432304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products with supplier and computes AVG(price) grouped by supplier. ROUND or direct AVG reveals the pricing tier of each supplier's product catalog in the store.</a:t>
            </a:r>
            <a:endParaRPr lang="en-US" sz="850" dirty="0"/>
          </a:p>
        </p:txBody>
      </p:sp>
      <p:sp>
        <p:nvSpPr>
          <p:cNvPr id="11" name="Shape 11"/>
          <p:cNvSpPr/>
          <p:nvPr/>
        </p:nvSpPr>
        <p:spPr>
          <a:xfrm>
            <a:off x="478580" y="3675888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478580" y="3675888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606596" y="36941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14" name="Text 14"/>
          <p:cNvSpPr/>
          <p:nvPr/>
        </p:nvSpPr>
        <p:spPr>
          <a:xfrm>
            <a:off x="606596" y="387705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with higher average product prices cater to premium segments; lower-priced suppliers support everyday essentials — both require different margin and stocking strategies.</a:t>
            </a:r>
            <a:endParaRPr lang="en-US" sz="8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027" y="1261872"/>
            <a:ext cx="4038209" cy="94847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551" y="3015617"/>
            <a:ext cx="3324689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08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235836"/>
            <a:ext cx="8972550" cy="4448175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577256" y="1133856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4"/>
          <p:cNvSpPr/>
          <p:nvPr/>
        </p:nvSpPr>
        <p:spPr>
          <a:xfrm>
            <a:off x="577256" y="1133856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668696" y="11338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6" name="Text 6"/>
          <p:cNvSpPr/>
          <p:nvPr/>
        </p:nvSpPr>
        <p:spPr>
          <a:xfrm>
            <a:off x="668696" y="140817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suppliers contribute the most to total product sales (by revenue)?</a:t>
            </a:r>
            <a:endParaRPr lang="en-US" sz="950" dirty="0"/>
          </a:p>
        </p:txBody>
      </p:sp>
      <p:sp>
        <p:nvSpPr>
          <p:cNvPr id="7" name="Shape 7"/>
          <p:cNvSpPr/>
          <p:nvPr/>
        </p:nvSpPr>
        <p:spPr>
          <a:xfrm>
            <a:off x="577256" y="2157984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8"/>
          <p:cNvSpPr/>
          <p:nvPr/>
        </p:nvSpPr>
        <p:spPr>
          <a:xfrm>
            <a:off x="577256" y="2157984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668696" y="21579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10" name="Text 10"/>
          <p:cNvSpPr/>
          <p:nvPr/>
        </p:nvSpPr>
        <p:spPr>
          <a:xfrm>
            <a:off x="668696" y="2432304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four-table JOIN (supplier → products → order_details → orders) links each supplier's products to their sold quantities and total revenue. Groups by supplier and ranks by total_sales_revenue.</a:t>
            </a:r>
            <a:endParaRPr lang="en-US" sz="850" dirty="0"/>
          </a:p>
        </p:txBody>
      </p:sp>
      <p:sp>
        <p:nvSpPr>
          <p:cNvPr id="11" name="Shape 11"/>
          <p:cNvSpPr/>
          <p:nvPr/>
        </p:nvSpPr>
        <p:spPr>
          <a:xfrm>
            <a:off x="577256" y="3675888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577256" y="3675888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705272" y="36941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14" name="Text 14"/>
          <p:cNvSpPr/>
          <p:nvPr/>
        </p:nvSpPr>
        <p:spPr>
          <a:xfrm>
            <a:off x="705272" y="387705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highest-revenue supplier's products are the store's backbone SKUs — any supply disruption would directly impact top-line revenue and require emergency sourcing.</a:t>
            </a:r>
            <a:endParaRPr lang="en-US" sz="8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004" y="1166880"/>
            <a:ext cx="3904546" cy="120420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650" y="2979701"/>
            <a:ext cx="3400900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76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/>
        </p:nvSpPr>
        <p:spPr>
          <a:xfrm>
            <a:off x="275014" y="230268"/>
            <a:ext cx="2873599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33360" y="431842"/>
            <a:ext cx="4155401" cy="2192946"/>
            <a:chOff x="4933219" y="1444012"/>
            <a:chExt cx="3125343" cy="1431597"/>
          </a:xfrm>
        </p:grpSpPr>
        <p:sp>
          <p:nvSpPr>
            <p:cNvPr id="5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7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8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9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10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633360" y="2757241"/>
            <a:ext cx="4155401" cy="1702925"/>
            <a:chOff x="4933218" y="3227094"/>
            <a:chExt cx="3125344" cy="688234"/>
          </a:xfrm>
        </p:grpSpPr>
        <p:grpSp>
          <p:nvGrpSpPr>
            <p:cNvPr id="12" name="Group 11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4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5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3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6" name="Text 3"/>
          <p:cNvSpPr/>
          <p:nvPr/>
        </p:nvSpPr>
        <p:spPr>
          <a:xfrm>
            <a:off x="450656" y="667918"/>
            <a:ext cx="4182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quantity-price relationships and unit price variation across orders</a:t>
            </a:r>
            <a:endParaRPr lang="en-US" sz="1300" dirty="0"/>
          </a:p>
        </p:txBody>
      </p:sp>
      <p:sp>
        <p:nvSpPr>
          <p:cNvPr id="17" name="Shape 3"/>
          <p:cNvSpPr/>
          <p:nvPr/>
        </p:nvSpPr>
        <p:spPr>
          <a:xfrm>
            <a:off x="485158" y="1349892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4"/>
          <p:cNvSpPr/>
          <p:nvPr/>
        </p:nvSpPr>
        <p:spPr>
          <a:xfrm>
            <a:off x="485158" y="1349892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9" name="Text 5"/>
          <p:cNvSpPr/>
          <p:nvPr/>
        </p:nvSpPr>
        <p:spPr>
          <a:xfrm>
            <a:off x="576598" y="13498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20" name="Text 6"/>
          <p:cNvSpPr/>
          <p:nvPr/>
        </p:nvSpPr>
        <p:spPr>
          <a:xfrm>
            <a:off x="576598" y="162421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relationship between quantity ordered and total price?</a:t>
            </a:r>
            <a:endParaRPr lang="en-US" sz="950" dirty="0"/>
          </a:p>
        </p:txBody>
      </p:sp>
      <p:sp>
        <p:nvSpPr>
          <p:cNvPr id="21" name="Shape 7"/>
          <p:cNvSpPr/>
          <p:nvPr/>
        </p:nvSpPr>
        <p:spPr>
          <a:xfrm>
            <a:off x="485158" y="237402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8"/>
          <p:cNvSpPr/>
          <p:nvPr/>
        </p:nvSpPr>
        <p:spPr>
          <a:xfrm>
            <a:off x="485158" y="2374020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3" name="Text 9"/>
          <p:cNvSpPr/>
          <p:nvPr/>
        </p:nvSpPr>
        <p:spPr>
          <a:xfrm>
            <a:off x="576598" y="23740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4" name="Text 10"/>
          <p:cNvSpPr/>
          <p:nvPr/>
        </p:nvSpPr>
        <p:spPr>
          <a:xfrm>
            <a:off x="576598" y="2648340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quantity and total_price directly from order_details without aggregation. This raw pair-wise data enables scatter-plot correlation analysis — useful for detecting non-linear pricing or discount patterns.</a:t>
            </a:r>
            <a:endParaRPr lang="en-US" sz="850" dirty="0"/>
          </a:p>
        </p:txBody>
      </p:sp>
      <p:sp>
        <p:nvSpPr>
          <p:cNvPr id="25" name="Shape 11"/>
          <p:cNvSpPr/>
          <p:nvPr/>
        </p:nvSpPr>
        <p:spPr>
          <a:xfrm>
            <a:off x="485158" y="3891924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2"/>
          <p:cNvSpPr/>
          <p:nvPr/>
        </p:nvSpPr>
        <p:spPr>
          <a:xfrm>
            <a:off x="485158" y="3891924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7" name="Text 13"/>
          <p:cNvSpPr/>
          <p:nvPr/>
        </p:nvSpPr>
        <p:spPr>
          <a:xfrm>
            <a:off x="613174" y="391021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8" name="Text 14"/>
          <p:cNvSpPr/>
          <p:nvPr/>
        </p:nvSpPr>
        <p:spPr>
          <a:xfrm>
            <a:off x="613174" y="40930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near-linear relationship confirms consistent unit pricing across orders; deviations signal bulk discounts, pricing errors, or promotional pricing worth investigating.</a:t>
            </a:r>
            <a:endParaRPr lang="en-US" sz="85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203" y="1190633"/>
            <a:ext cx="3682646" cy="67536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608" y="2911551"/>
            <a:ext cx="1488904" cy="133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42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75014" y="230268"/>
            <a:ext cx="2873599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633360" y="431842"/>
            <a:ext cx="4155401" cy="2192946"/>
            <a:chOff x="4933219" y="1444012"/>
            <a:chExt cx="3125343" cy="1431597"/>
          </a:xfrm>
        </p:grpSpPr>
        <p:sp>
          <p:nvSpPr>
            <p:cNvPr id="4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6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7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8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9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633360" y="2757241"/>
            <a:ext cx="4155401" cy="1702925"/>
            <a:chOff x="4933218" y="3227094"/>
            <a:chExt cx="3125344" cy="688234"/>
          </a:xfrm>
        </p:grpSpPr>
        <p:grpSp>
          <p:nvGrpSpPr>
            <p:cNvPr id="11" name="Group 10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3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4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2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5" name="Shape 3"/>
          <p:cNvSpPr/>
          <p:nvPr/>
        </p:nvSpPr>
        <p:spPr>
          <a:xfrm>
            <a:off x="501064" y="991762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4"/>
          <p:cNvSpPr/>
          <p:nvPr/>
        </p:nvSpPr>
        <p:spPr>
          <a:xfrm>
            <a:off x="501064" y="991762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5"/>
          <p:cNvSpPr/>
          <p:nvPr/>
        </p:nvSpPr>
        <p:spPr>
          <a:xfrm>
            <a:off x="592504" y="99176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8" name="Text 6"/>
          <p:cNvSpPr/>
          <p:nvPr/>
        </p:nvSpPr>
        <p:spPr>
          <a:xfrm>
            <a:off x="592504" y="126608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quantity ordered per product?</a:t>
            </a:r>
            <a:endParaRPr lang="en-US" sz="950" dirty="0"/>
          </a:p>
        </p:txBody>
      </p:sp>
      <p:sp>
        <p:nvSpPr>
          <p:cNvPr id="19" name="Shape 7"/>
          <p:cNvSpPr/>
          <p:nvPr/>
        </p:nvSpPr>
        <p:spPr>
          <a:xfrm>
            <a:off x="501064" y="2015890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8"/>
          <p:cNvSpPr/>
          <p:nvPr/>
        </p:nvSpPr>
        <p:spPr>
          <a:xfrm>
            <a:off x="501064" y="2015890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592504" y="201589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2" name="Text 10"/>
          <p:cNvSpPr/>
          <p:nvPr/>
        </p:nvSpPr>
        <p:spPr>
          <a:xfrm>
            <a:off x="592504" y="2290210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order_details with products and computes ROUND(AVG(quantity), 2) grouped by product. This shows typical order size per SKU — essential for setting reorder quantities and packaging sizes.</a:t>
            </a:r>
            <a:endParaRPr lang="en-US" sz="850" dirty="0"/>
          </a:p>
        </p:txBody>
      </p:sp>
      <p:sp>
        <p:nvSpPr>
          <p:cNvPr id="23" name="Shape 11"/>
          <p:cNvSpPr/>
          <p:nvPr/>
        </p:nvSpPr>
        <p:spPr>
          <a:xfrm>
            <a:off x="501064" y="3533794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2"/>
          <p:cNvSpPr/>
          <p:nvPr/>
        </p:nvSpPr>
        <p:spPr>
          <a:xfrm>
            <a:off x="501064" y="3533794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629080" y="355208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6" name="Text 14"/>
          <p:cNvSpPr/>
          <p:nvPr/>
        </p:nvSpPr>
        <p:spPr>
          <a:xfrm>
            <a:off x="629080" y="373496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high average quantities per order are bulk staples; low averages suggest trial or impulse purchases — each needing a different replenishment strategy.</a:t>
            </a:r>
            <a:endParaRPr lang="en-US" sz="8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41" y="861510"/>
            <a:ext cx="4041921" cy="1490361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652" y="2868792"/>
            <a:ext cx="3039034" cy="144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55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/>
        </p:nvSpPr>
        <p:spPr>
          <a:xfrm>
            <a:off x="275014" y="230268"/>
            <a:ext cx="2873599" cy="521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33360" y="431842"/>
            <a:ext cx="4155401" cy="2192946"/>
            <a:chOff x="4933219" y="1444012"/>
            <a:chExt cx="3125343" cy="1431597"/>
          </a:xfrm>
        </p:grpSpPr>
        <p:sp>
          <p:nvSpPr>
            <p:cNvPr id="5" name="Shape 15"/>
            <p:cNvSpPr/>
            <p:nvPr/>
          </p:nvSpPr>
          <p:spPr>
            <a:xfrm>
              <a:off x="4933219" y="1444012"/>
              <a:ext cx="3125343" cy="14315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2A3F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Shape 16"/>
            <p:cNvSpPr/>
            <p:nvPr/>
          </p:nvSpPr>
          <p:spPr>
            <a:xfrm>
              <a:off x="4933219" y="1445459"/>
              <a:ext cx="3125343" cy="169591"/>
            </a:xfrm>
            <a:prstGeom prst="rect">
              <a:avLst/>
            </a:prstGeom>
            <a:solidFill>
              <a:srgbClr val="710D1B"/>
            </a:solidFill>
            <a:ln w="12700">
              <a:solidFill>
                <a:srgbClr val="142030"/>
              </a:solidFill>
              <a:prstDash val="solid"/>
            </a:ln>
          </p:spPr>
        </p:sp>
        <p:sp>
          <p:nvSpPr>
            <p:cNvPr id="7" name="Shape 17"/>
            <p:cNvSpPr/>
            <p:nvPr/>
          </p:nvSpPr>
          <p:spPr>
            <a:xfrm>
              <a:off x="5005342" y="1482484"/>
              <a:ext cx="72123" cy="67836"/>
            </a:xfrm>
            <a:prstGeom prst="ellipse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8" name="Shape 18"/>
            <p:cNvSpPr/>
            <p:nvPr/>
          </p:nvSpPr>
          <p:spPr>
            <a:xfrm>
              <a:off x="5137568" y="1482484"/>
              <a:ext cx="72123" cy="67836"/>
            </a:xfrm>
            <a:prstGeom prst="ellipse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</p:sp>
        <p:sp>
          <p:nvSpPr>
            <p:cNvPr id="9" name="Shape 19"/>
            <p:cNvSpPr/>
            <p:nvPr/>
          </p:nvSpPr>
          <p:spPr>
            <a:xfrm>
              <a:off x="5269794" y="1482484"/>
              <a:ext cx="72123" cy="67836"/>
            </a:xfrm>
            <a:prstGeom prst="ellipse">
              <a:avLst/>
            </a:prstGeom>
            <a:solidFill>
              <a:srgbClr val="2ECC71"/>
            </a:solidFill>
            <a:ln w="12700">
              <a:solidFill>
                <a:srgbClr val="2ECC71"/>
              </a:solidFill>
              <a:prstDash val="solid"/>
            </a:ln>
          </p:spPr>
        </p:sp>
        <p:sp>
          <p:nvSpPr>
            <p:cNvPr id="10" name="Text 20"/>
            <p:cNvSpPr/>
            <p:nvPr/>
          </p:nvSpPr>
          <p:spPr>
            <a:xfrm>
              <a:off x="5414041" y="1445459"/>
              <a:ext cx="2584418" cy="169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Code</a:t>
              </a:r>
              <a:endParaRPr lang="en-US" sz="7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633360" y="2757241"/>
            <a:ext cx="4155401" cy="1702925"/>
            <a:chOff x="4933218" y="3227094"/>
            <a:chExt cx="3125344" cy="688234"/>
          </a:xfrm>
        </p:grpSpPr>
        <p:grpSp>
          <p:nvGrpSpPr>
            <p:cNvPr id="12" name="Group 11"/>
            <p:cNvGrpSpPr/>
            <p:nvPr/>
          </p:nvGrpSpPr>
          <p:grpSpPr>
            <a:xfrm>
              <a:off x="4933218" y="3227094"/>
              <a:ext cx="3125344" cy="688234"/>
              <a:chOff x="2829476" y="4343400"/>
              <a:chExt cx="2322050" cy="548640"/>
            </a:xfrm>
          </p:grpSpPr>
          <p:sp>
            <p:nvSpPr>
              <p:cNvPr id="14" name="Shape 2"/>
              <p:cNvSpPr/>
              <p:nvPr/>
            </p:nvSpPr>
            <p:spPr>
              <a:xfrm>
                <a:off x="2829476" y="4343400"/>
                <a:ext cx="2322050" cy="5486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5" name="Shape 3"/>
              <p:cNvSpPr/>
              <p:nvPr/>
            </p:nvSpPr>
            <p:spPr>
              <a:xfrm>
                <a:off x="2829476" y="4343400"/>
                <a:ext cx="64008" cy="5486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  <a:prstDash val="solid"/>
              </a:ln>
            </p:spPr>
          </p:sp>
        </p:grpSp>
        <p:sp>
          <p:nvSpPr>
            <p:cNvPr id="13" name="Text 20"/>
            <p:cNvSpPr/>
            <p:nvPr/>
          </p:nvSpPr>
          <p:spPr>
            <a:xfrm>
              <a:off x="5077465" y="3280183"/>
              <a:ext cx="415514" cy="148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 smtClean="0">
                  <a:solidFill>
                    <a:srgbClr val="5A7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Result:</a:t>
              </a:r>
              <a:endParaRPr lang="en-US" sz="900" b="1" dirty="0"/>
            </a:p>
          </p:txBody>
        </p:sp>
      </p:grpSp>
      <p:sp>
        <p:nvSpPr>
          <p:cNvPr id="16" name="Shape 3"/>
          <p:cNvSpPr/>
          <p:nvPr/>
        </p:nvSpPr>
        <p:spPr>
          <a:xfrm>
            <a:off x="498615" y="952756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4"/>
          <p:cNvSpPr/>
          <p:nvPr/>
        </p:nvSpPr>
        <p:spPr>
          <a:xfrm>
            <a:off x="498615" y="952756"/>
            <a:ext cx="3703320" cy="256032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8" name="Text 5"/>
          <p:cNvSpPr/>
          <p:nvPr/>
        </p:nvSpPr>
        <p:spPr>
          <a:xfrm>
            <a:off x="590055" y="9527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9" name="Text 6"/>
          <p:cNvSpPr/>
          <p:nvPr/>
        </p:nvSpPr>
        <p:spPr>
          <a:xfrm>
            <a:off x="590055" y="122707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unit price vary across products and orders?</a:t>
            </a:r>
            <a:endParaRPr lang="en-US" sz="950" dirty="0"/>
          </a:p>
        </p:txBody>
      </p:sp>
      <p:sp>
        <p:nvSpPr>
          <p:cNvPr id="20" name="Shape 7"/>
          <p:cNvSpPr/>
          <p:nvPr/>
        </p:nvSpPr>
        <p:spPr>
          <a:xfrm>
            <a:off x="498615" y="1976884"/>
            <a:ext cx="3703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8"/>
          <p:cNvSpPr/>
          <p:nvPr/>
        </p:nvSpPr>
        <p:spPr>
          <a:xfrm>
            <a:off x="498615" y="1976884"/>
            <a:ext cx="3703320" cy="2560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2" name="Text 9"/>
          <p:cNvSpPr/>
          <p:nvPr/>
        </p:nvSpPr>
        <p:spPr>
          <a:xfrm>
            <a:off x="590055" y="19768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800" dirty="0"/>
          </a:p>
        </p:txBody>
      </p:sp>
      <p:sp>
        <p:nvSpPr>
          <p:cNvPr id="23" name="Text 10"/>
          <p:cNvSpPr/>
          <p:nvPr/>
        </p:nvSpPr>
        <p:spPr>
          <a:xfrm>
            <a:off x="590055" y="2251204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unit_price by dividing total_price by quantity (ROUND to 2dp). Joins order_details with products to show each product's effective unit price per order — detecting variance from list price.</a:t>
            </a:r>
            <a:endParaRPr lang="en-US" sz="850" dirty="0"/>
          </a:p>
        </p:txBody>
      </p:sp>
      <p:sp>
        <p:nvSpPr>
          <p:cNvPr id="24" name="Shape 11"/>
          <p:cNvSpPr/>
          <p:nvPr/>
        </p:nvSpPr>
        <p:spPr>
          <a:xfrm>
            <a:off x="498615" y="3494788"/>
            <a:ext cx="3703320" cy="640080"/>
          </a:xfrm>
          <a:prstGeom prst="rect">
            <a:avLst/>
          </a:prstGeom>
          <a:solidFill>
            <a:srgbClr val="EBF8F4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2"/>
          <p:cNvSpPr/>
          <p:nvPr/>
        </p:nvSpPr>
        <p:spPr>
          <a:xfrm>
            <a:off x="498615" y="3494788"/>
            <a:ext cx="54864" cy="64008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6" name="Text 13"/>
          <p:cNvSpPr/>
          <p:nvPr/>
        </p:nvSpPr>
        <p:spPr>
          <a:xfrm>
            <a:off x="626631" y="35130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27" name="Text 14"/>
          <p:cNvSpPr/>
          <p:nvPr/>
        </p:nvSpPr>
        <p:spPr>
          <a:xfrm>
            <a:off x="626631" y="369595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variance across orders for the same product reveals dynamic pricing, promotional discounting, or data quality issues that require pricing policy review.</a:t>
            </a:r>
            <a:endParaRPr lang="en-US" sz="8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772" y="782660"/>
            <a:ext cx="3565282" cy="175331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652" y="2888600"/>
            <a:ext cx="3478256" cy="136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66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1355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Insights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hape 3"/>
          <p:cNvSpPr/>
          <p:nvPr/>
        </p:nvSpPr>
        <p:spPr>
          <a:xfrm>
            <a:off x="622318" y="914433"/>
            <a:ext cx="6317912" cy="514847"/>
          </a:xfrm>
          <a:prstGeom prst="rect">
            <a:avLst/>
          </a:prstGeom>
          <a:solidFill>
            <a:srgbClr val="1E3054"/>
          </a:solidFill>
          <a:ln w="12700">
            <a:solidFill>
              <a:srgbClr val="2A4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4"/>
          <p:cNvSpPr/>
          <p:nvPr/>
        </p:nvSpPr>
        <p:spPr>
          <a:xfrm>
            <a:off x="622318" y="914433"/>
            <a:ext cx="64008" cy="514847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786910" y="960153"/>
            <a:ext cx="1188720" cy="44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</a:t>
            </a:r>
            <a:endParaRPr lang="en-US" sz="1000" dirty="0"/>
          </a:p>
        </p:txBody>
      </p:sp>
      <p:sp>
        <p:nvSpPr>
          <p:cNvPr id="6" name="Text 6"/>
          <p:cNvSpPr/>
          <p:nvPr/>
        </p:nvSpPr>
        <p:spPr>
          <a:xfrm>
            <a:off x="1586385" y="960153"/>
            <a:ext cx="5255169" cy="44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orders generating ₹5.51L total revenue with clear seasonal patterns identifiable via monthly trend analysis.</a:t>
            </a:r>
            <a:endParaRPr lang="en-US" sz="900" dirty="0"/>
          </a:p>
        </p:txBody>
      </p:sp>
      <p:sp>
        <p:nvSpPr>
          <p:cNvPr id="7" name="Shape 7"/>
          <p:cNvSpPr/>
          <p:nvPr/>
        </p:nvSpPr>
        <p:spPr>
          <a:xfrm>
            <a:off x="622318" y="1664241"/>
            <a:ext cx="6317912" cy="514847"/>
          </a:xfrm>
          <a:prstGeom prst="rect">
            <a:avLst/>
          </a:prstGeom>
          <a:solidFill>
            <a:srgbClr val="1E3054"/>
          </a:solidFill>
          <a:ln w="12700">
            <a:solidFill>
              <a:srgbClr val="2A4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8"/>
          <p:cNvSpPr/>
          <p:nvPr/>
        </p:nvSpPr>
        <p:spPr>
          <a:xfrm>
            <a:off x="622318" y="1664241"/>
            <a:ext cx="64008" cy="514847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786910" y="1709961"/>
            <a:ext cx="1188720" cy="44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</a:t>
            </a:r>
            <a:endParaRPr lang="en-US" sz="1000" dirty="0"/>
          </a:p>
        </p:txBody>
      </p:sp>
      <p:sp>
        <p:nvSpPr>
          <p:cNvPr id="10" name="Text 10"/>
          <p:cNvSpPr/>
          <p:nvPr/>
        </p:nvSpPr>
        <p:spPr>
          <a:xfrm>
            <a:off x="1586385" y="1709961"/>
            <a:ext cx="5255169" cy="44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contribute disproportionately to revenue — Chetan Naidu leads at ₹11,257 total spend.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622318" y="2414049"/>
            <a:ext cx="6317912" cy="514847"/>
          </a:xfrm>
          <a:prstGeom prst="rect">
            <a:avLst/>
          </a:prstGeom>
          <a:solidFill>
            <a:srgbClr val="1E3054"/>
          </a:solidFill>
          <a:ln w="12700">
            <a:solidFill>
              <a:srgbClr val="2A4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622318" y="2414049"/>
            <a:ext cx="64008" cy="514847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786910" y="2459769"/>
            <a:ext cx="1188720" cy="44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</a:t>
            </a:r>
            <a:endParaRPr lang="en-US" sz="1000" dirty="0"/>
          </a:p>
        </p:txBody>
      </p:sp>
      <p:sp>
        <p:nvSpPr>
          <p:cNvPr id="14" name="Text 14"/>
          <p:cNvSpPr/>
          <p:nvPr/>
        </p:nvSpPr>
        <p:spPr>
          <a:xfrm>
            <a:off x="1586385" y="2459769"/>
            <a:ext cx="5255169" cy="44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Sanitizer is the #1 revenue product (₹27,788); Snacks &amp; Confectioneries dominate category revenue at ₹1.83L.</a:t>
            </a:r>
            <a:endParaRPr lang="en-US" sz="900" dirty="0"/>
          </a:p>
        </p:txBody>
      </p:sp>
      <p:sp>
        <p:nvSpPr>
          <p:cNvPr id="15" name="Shape 15"/>
          <p:cNvSpPr/>
          <p:nvPr/>
        </p:nvSpPr>
        <p:spPr>
          <a:xfrm>
            <a:off x="622318" y="3163857"/>
            <a:ext cx="6317912" cy="514847"/>
          </a:xfrm>
          <a:prstGeom prst="rect">
            <a:avLst/>
          </a:prstGeom>
          <a:solidFill>
            <a:srgbClr val="1E3054"/>
          </a:solidFill>
          <a:ln w="12700">
            <a:solidFill>
              <a:srgbClr val="2A4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6"/>
          <p:cNvSpPr/>
          <p:nvPr/>
        </p:nvSpPr>
        <p:spPr>
          <a:xfrm>
            <a:off x="622318" y="3163857"/>
            <a:ext cx="64008" cy="514847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786910" y="3209577"/>
            <a:ext cx="1188720" cy="44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Employees:</a:t>
            </a:r>
            <a:endParaRPr lang="en-US" sz="1000" dirty="0"/>
          </a:p>
        </p:txBody>
      </p:sp>
      <p:sp>
        <p:nvSpPr>
          <p:cNvPr id="18" name="Text 18"/>
          <p:cNvSpPr/>
          <p:nvPr/>
        </p:nvSpPr>
        <p:spPr>
          <a:xfrm>
            <a:off x="1586385" y="3209577"/>
            <a:ext cx="5255169" cy="44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Singh leads revenue processed (₹79,252); Diya Sharma handles the most orders (38) — both excel in different dimensions.</a:t>
            </a:r>
            <a:endParaRPr lang="en-US" sz="900" dirty="0"/>
          </a:p>
        </p:txBody>
      </p:sp>
      <p:sp>
        <p:nvSpPr>
          <p:cNvPr id="19" name="Shape 19"/>
          <p:cNvSpPr/>
          <p:nvPr/>
        </p:nvSpPr>
        <p:spPr>
          <a:xfrm>
            <a:off x="622318" y="3913665"/>
            <a:ext cx="6317912" cy="514847"/>
          </a:xfrm>
          <a:prstGeom prst="rect">
            <a:avLst/>
          </a:prstGeom>
          <a:solidFill>
            <a:srgbClr val="1E3054"/>
          </a:solidFill>
          <a:ln w="12700">
            <a:solidFill>
              <a:srgbClr val="2A4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20"/>
          <p:cNvSpPr/>
          <p:nvPr/>
        </p:nvSpPr>
        <p:spPr>
          <a:xfrm>
            <a:off x="622318" y="3913665"/>
            <a:ext cx="64008" cy="514847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786910" y="3959385"/>
            <a:ext cx="1188720" cy="44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Suppliers:</a:t>
            </a:r>
            <a:endParaRPr lang="en-US" sz="1000" dirty="0"/>
          </a:p>
        </p:txBody>
      </p:sp>
      <p:sp>
        <p:nvSpPr>
          <p:cNvPr id="22" name="Text 22"/>
          <p:cNvSpPr/>
          <p:nvPr/>
        </p:nvSpPr>
        <p:spPr>
          <a:xfrm>
            <a:off x="1586385" y="3959385"/>
            <a:ext cx="5255169" cy="44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suppliers provide 50 products; revenue concentration analysis enables strategic supplier partnership decisions.</a:t>
            </a:r>
            <a:endParaRPr lang="en-US" sz="900" dirty="0"/>
          </a:p>
        </p:txBody>
      </p:sp>
      <p:grpSp>
        <p:nvGrpSpPr>
          <p:cNvPr id="35" name="Group 34"/>
          <p:cNvGrpSpPr/>
          <p:nvPr/>
        </p:nvGrpSpPr>
        <p:grpSpPr>
          <a:xfrm>
            <a:off x="7122485" y="915461"/>
            <a:ext cx="1234440" cy="685800"/>
            <a:chOff x="3474720" y="2834640"/>
            <a:chExt cx="1234440" cy="685800"/>
          </a:xfrm>
        </p:grpSpPr>
        <p:sp>
          <p:nvSpPr>
            <p:cNvPr id="23" name="Shape 57"/>
            <p:cNvSpPr/>
            <p:nvPr/>
          </p:nvSpPr>
          <p:spPr>
            <a:xfrm>
              <a:off x="3474720" y="2834640"/>
              <a:ext cx="1234440" cy="685800"/>
            </a:xfrm>
            <a:prstGeom prst="rect">
              <a:avLst/>
            </a:prstGeom>
            <a:solidFill>
              <a:srgbClr val="243A5E"/>
            </a:solidFill>
            <a:ln w="12700">
              <a:solidFill>
                <a:srgbClr val="0D7C6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4" name="Text 58"/>
            <p:cNvSpPr/>
            <p:nvPr/>
          </p:nvSpPr>
          <p:spPr>
            <a:xfrm>
              <a:off x="3474720" y="2852928"/>
              <a:ext cx="1234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5A6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</a:t>
              </a:r>
              <a:endParaRPr lang="en-US" sz="2000" dirty="0"/>
            </a:p>
          </p:txBody>
        </p:sp>
        <p:sp>
          <p:nvSpPr>
            <p:cNvPr id="25" name="Text 59"/>
            <p:cNvSpPr/>
            <p:nvPr/>
          </p:nvSpPr>
          <p:spPr>
            <a:xfrm>
              <a:off x="3474720" y="3145536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AABBC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Tables</a:t>
              </a:r>
              <a:endParaRPr lang="en-US" sz="8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122485" y="1935778"/>
            <a:ext cx="1234440" cy="685800"/>
            <a:chOff x="4864608" y="2834640"/>
            <a:chExt cx="1234440" cy="685800"/>
          </a:xfrm>
        </p:grpSpPr>
        <p:sp>
          <p:nvSpPr>
            <p:cNvPr id="26" name="Shape 60"/>
            <p:cNvSpPr/>
            <p:nvPr/>
          </p:nvSpPr>
          <p:spPr>
            <a:xfrm>
              <a:off x="4864608" y="2834640"/>
              <a:ext cx="1234440" cy="685800"/>
            </a:xfrm>
            <a:prstGeom prst="rect">
              <a:avLst/>
            </a:prstGeom>
            <a:solidFill>
              <a:srgbClr val="243A5E"/>
            </a:solidFill>
            <a:ln w="12700">
              <a:solidFill>
                <a:srgbClr val="0D7C6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7" name="Text 61"/>
            <p:cNvSpPr/>
            <p:nvPr/>
          </p:nvSpPr>
          <p:spPr>
            <a:xfrm>
              <a:off x="4864608" y="2852928"/>
              <a:ext cx="1234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5A6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300</a:t>
              </a:r>
              <a:endParaRPr lang="en-US" sz="2000" dirty="0"/>
            </a:p>
          </p:txBody>
        </p:sp>
        <p:sp>
          <p:nvSpPr>
            <p:cNvPr id="28" name="Text 62"/>
            <p:cNvSpPr/>
            <p:nvPr/>
          </p:nvSpPr>
          <p:spPr>
            <a:xfrm>
              <a:off x="4864608" y="3145536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AABBC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Orders</a:t>
              </a:r>
              <a:endParaRPr lang="en-US" sz="8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122485" y="2839245"/>
            <a:ext cx="1234440" cy="685800"/>
            <a:chOff x="6254496" y="2834640"/>
            <a:chExt cx="1234440" cy="685800"/>
          </a:xfrm>
        </p:grpSpPr>
        <p:sp>
          <p:nvSpPr>
            <p:cNvPr id="29" name="Shape 63"/>
            <p:cNvSpPr/>
            <p:nvPr/>
          </p:nvSpPr>
          <p:spPr>
            <a:xfrm>
              <a:off x="6254496" y="2834640"/>
              <a:ext cx="1234440" cy="685800"/>
            </a:xfrm>
            <a:prstGeom prst="rect">
              <a:avLst/>
            </a:prstGeom>
            <a:solidFill>
              <a:srgbClr val="243A5E"/>
            </a:solidFill>
            <a:ln w="12700">
              <a:solidFill>
                <a:srgbClr val="0D7C6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0" name="Text 64"/>
            <p:cNvSpPr/>
            <p:nvPr/>
          </p:nvSpPr>
          <p:spPr>
            <a:xfrm>
              <a:off x="6254496" y="2852928"/>
              <a:ext cx="1234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5A6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200</a:t>
              </a:r>
              <a:endParaRPr lang="en-US" sz="2000" dirty="0"/>
            </a:p>
          </p:txBody>
        </p:sp>
        <p:sp>
          <p:nvSpPr>
            <p:cNvPr id="31" name="Text 65"/>
            <p:cNvSpPr/>
            <p:nvPr/>
          </p:nvSpPr>
          <p:spPr>
            <a:xfrm>
              <a:off x="6254496" y="3145536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AABBC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Customers</a:t>
              </a:r>
              <a:endParaRPr lang="en-US" sz="80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122485" y="3742712"/>
            <a:ext cx="1234440" cy="685800"/>
            <a:chOff x="7644384" y="2834640"/>
            <a:chExt cx="1234440" cy="685800"/>
          </a:xfrm>
        </p:grpSpPr>
        <p:sp>
          <p:nvSpPr>
            <p:cNvPr id="32" name="Shape 66"/>
            <p:cNvSpPr/>
            <p:nvPr/>
          </p:nvSpPr>
          <p:spPr>
            <a:xfrm>
              <a:off x="7644384" y="2834640"/>
              <a:ext cx="1234440" cy="685800"/>
            </a:xfrm>
            <a:prstGeom prst="rect">
              <a:avLst/>
            </a:prstGeom>
            <a:solidFill>
              <a:srgbClr val="243A5E"/>
            </a:solidFill>
            <a:ln w="12700">
              <a:solidFill>
                <a:srgbClr val="0D7C6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3" name="Text 67"/>
            <p:cNvSpPr/>
            <p:nvPr/>
          </p:nvSpPr>
          <p:spPr>
            <a:xfrm>
              <a:off x="7644384" y="2852928"/>
              <a:ext cx="12344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5A62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</a:t>
              </a:r>
              <a:endParaRPr lang="en-US" sz="2000" dirty="0"/>
            </a:p>
          </p:txBody>
        </p:sp>
        <p:sp>
          <p:nvSpPr>
            <p:cNvPr id="34" name="Text 68"/>
            <p:cNvSpPr/>
            <p:nvPr/>
          </p:nvSpPr>
          <p:spPr>
            <a:xfrm>
              <a:off x="7644384" y="3145536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AABBC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Employees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18261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DASHBOARD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Shape 2"/>
          <p:cNvSpPr/>
          <p:nvPr/>
        </p:nvSpPr>
        <p:spPr>
          <a:xfrm>
            <a:off x="274320" y="730868"/>
            <a:ext cx="1965960" cy="1005840"/>
          </a:xfrm>
          <a:prstGeom prst="rect">
            <a:avLst/>
          </a:prstGeom>
          <a:solidFill>
            <a:srgbClr val="0D7C66"/>
          </a:solidFill>
          <a:ln w="12700">
            <a:solidFill>
              <a:srgbClr val="0D7C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3"/>
          <p:cNvSpPr/>
          <p:nvPr/>
        </p:nvSpPr>
        <p:spPr>
          <a:xfrm>
            <a:off x="274320" y="7491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₹5.51L</a:t>
            </a:r>
            <a:endParaRPr lang="en-US" sz="2400" dirty="0"/>
          </a:p>
        </p:txBody>
      </p:sp>
      <p:sp>
        <p:nvSpPr>
          <p:cNvPr id="23" name="Text 4"/>
          <p:cNvSpPr/>
          <p:nvPr/>
        </p:nvSpPr>
        <p:spPr>
          <a:xfrm>
            <a:off x="274320" y="12520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24" name="Text 5"/>
          <p:cNvSpPr/>
          <p:nvPr/>
        </p:nvSpPr>
        <p:spPr>
          <a:xfrm>
            <a:off x="274320" y="14441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600 order lines</a:t>
            </a:r>
            <a:endParaRPr lang="en-US" sz="750" dirty="0"/>
          </a:p>
        </p:txBody>
      </p:sp>
      <p:sp>
        <p:nvSpPr>
          <p:cNvPr id="25" name="Shape 6"/>
          <p:cNvSpPr/>
          <p:nvPr/>
        </p:nvSpPr>
        <p:spPr>
          <a:xfrm>
            <a:off x="2450592" y="730868"/>
            <a:ext cx="1965960" cy="10058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7"/>
          <p:cNvSpPr/>
          <p:nvPr/>
        </p:nvSpPr>
        <p:spPr>
          <a:xfrm>
            <a:off x="2450592" y="7491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2400" dirty="0"/>
          </a:p>
        </p:txBody>
      </p:sp>
      <p:sp>
        <p:nvSpPr>
          <p:cNvPr id="27" name="Text 8"/>
          <p:cNvSpPr/>
          <p:nvPr/>
        </p:nvSpPr>
        <p:spPr>
          <a:xfrm>
            <a:off x="2450592" y="12520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00" dirty="0"/>
          </a:p>
        </p:txBody>
      </p:sp>
      <p:sp>
        <p:nvSpPr>
          <p:cNvPr id="28" name="Text 9"/>
          <p:cNvSpPr/>
          <p:nvPr/>
        </p:nvSpPr>
        <p:spPr>
          <a:xfrm>
            <a:off x="2450592" y="14441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buyer base</a:t>
            </a:r>
            <a:endParaRPr lang="en-US" sz="750" dirty="0"/>
          </a:p>
        </p:txBody>
      </p:sp>
      <p:sp>
        <p:nvSpPr>
          <p:cNvPr id="29" name="Shape 10"/>
          <p:cNvSpPr/>
          <p:nvPr/>
        </p:nvSpPr>
        <p:spPr>
          <a:xfrm>
            <a:off x="4626864" y="730868"/>
            <a:ext cx="1965960" cy="100584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11"/>
          <p:cNvSpPr/>
          <p:nvPr/>
        </p:nvSpPr>
        <p:spPr>
          <a:xfrm>
            <a:off x="4626864" y="7491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400" dirty="0"/>
          </a:p>
        </p:txBody>
      </p:sp>
      <p:sp>
        <p:nvSpPr>
          <p:cNvPr id="31" name="Text 12"/>
          <p:cNvSpPr/>
          <p:nvPr/>
        </p:nvSpPr>
        <p:spPr>
          <a:xfrm>
            <a:off x="4626864" y="12520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32" name="Text 13"/>
          <p:cNvSpPr/>
          <p:nvPr/>
        </p:nvSpPr>
        <p:spPr>
          <a:xfrm>
            <a:off x="4626864" y="14441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₹1,837 per order</a:t>
            </a:r>
            <a:endParaRPr lang="en-US" sz="750" dirty="0"/>
          </a:p>
        </p:txBody>
      </p:sp>
      <p:sp>
        <p:nvSpPr>
          <p:cNvPr id="33" name="Shape 14"/>
          <p:cNvSpPr/>
          <p:nvPr/>
        </p:nvSpPr>
        <p:spPr>
          <a:xfrm>
            <a:off x="6803136" y="730868"/>
            <a:ext cx="1965960" cy="1005840"/>
          </a:xfrm>
          <a:prstGeom prst="rect">
            <a:avLst/>
          </a:prstGeom>
          <a:solidFill>
            <a:srgbClr val="D4700A"/>
          </a:solidFill>
          <a:ln w="12700">
            <a:solidFill>
              <a:srgbClr val="D47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15"/>
          <p:cNvSpPr/>
          <p:nvPr/>
        </p:nvSpPr>
        <p:spPr>
          <a:xfrm>
            <a:off x="6803136" y="7491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400" dirty="0"/>
          </a:p>
        </p:txBody>
      </p:sp>
      <p:sp>
        <p:nvSpPr>
          <p:cNvPr id="35" name="Text 16"/>
          <p:cNvSpPr/>
          <p:nvPr/>
        </p:nvSpPr>
        <p:spPr>
          <a:xfrm>
            <a:off x="6803136" y="12520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36" name="Text 17"/>
          <p:cNvSpPr/>
          <p:nvPr/>
        </p:nvSpPr>
        <p:spPr>
          <a:xfrm>
            <a:off x="6803136" y="14441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categories</a:t>
            </a:r>
            <a:endParaRPr lang="en-US" sz="750" dirty="0"/>
          </a:p>
        </p:txBody>
      </p:sp>
      <p:graphicFrame>
        <p:nvGraphicFramePr>
          <p:cNvPr id="37" name="Chart 0"/>
          <p:cNvGraphicFramePr/>
          <p:nvPr>
            <p:extLst>
              <p:ext uri="{D42A27DB-BD31-4B8C-83A1-F6EECF244321}">
                <p14:modId xmlns:p14="http://schemas.microsoft.com/office/powerpoint/2010/main" val="2495814980"/>
              </p:ext>
            </p:extLst>
          </p:nvPr>
        </p:nvGraphicFramePr>
        <p:xfrm>
          <a:off x="274320" y="1873868"/>
          <a:ext cx="4114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8" name="Chart 1"/>
          <p:cNvGraphicFramePr/>
          <p:nvPr>
            <p:extLst>
              <p:ext uri="{D42A27DB-BD31-4B8C-83A1-F6EECF244321}">
                <p14:modId xmlns:p14="http://schemas.microsoft.com/office/powerpoint/2010/main" val="1609250848"/>
              </p:ext>
            </p:extLst>
          </p:nvPr>
        </p:nvGraphicFramePr>
        <p:xfrm>
          <a:off x="4572000" y="1873868"/>
          <a:ext cx="42976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705678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9888" y="1388062"/>
            <a:ext cx="3349232" cy="212573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933450" y="2247900"/>
            <a:ext cx="2746377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buClr>
                <a:srgbClr val="C00000"/>
              </a:buClr>
              <a:buSzPts val="4400"/>
            </a:pPr>
            <a:r>
              <a:rPr lang="en-IN" sz="330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3902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772</TotalTime>
  <Words>2293</Words>
  <Application>Microsoft Office PowerPoint</Application>
  <PresentationFormat>On-screen Show (16:9)</PresentationFormat>
  <Paragraphs>302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Libre Baskerville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Grocery Store Management - SQL Analysis</dc:title>
  <dc:subject>PptxGenJS Presentation</dc:subject>
  <dc:creator>PptxGenJS</dc:creator>
  <cp:lastModifiedBy>Microsoft account</cp:lastModifiedBy>
  <cp:revision>57</cp:revision>
  <dcterms:created xsi:type="dcterms:W3CDTF">2026-04-06T06:58:53Z</dcterms:created>
  <dcterms:modified xsi:type="dcterms:W3CDTF">2026-04-08T05:29:25Z</dcterms:modified>
</cp:coreProperties>
</file>